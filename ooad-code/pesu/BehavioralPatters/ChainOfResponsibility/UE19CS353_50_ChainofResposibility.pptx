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89" r:id="rId10"/>
    <p:sldId id="290" r:id="rId11"/>
    <p:sldId id="291" r:id="rId12"/>
    <p:sldId id="292" r:id="rId13"/>
    <p:sldId id="264" r:id="rId14"/>
    <p:sldId id="265"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5" r:id="rId28"/>
    <p:sldId id="286" r:id="rId29"/>
    <p:sldId id="287" r:id="rId30"/>
    <p:sldId id="288" r:id="rId31"/>
    <p:sldId id="282" r:id="rId32"/>
    <p:sldId id="283" r:id="rId33"/>
    <p:sldId id="284"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jicEro9YlcnlW3WJfcuV7OCbwjC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84" y="32"/>
      </p:cViewPr>
      <p:guideLst>
        <p:guide orient="horz" pos="2160"/>
        <p:guide pos="3840"/>
      </p:guideLst>
    </p:cSldViewPr>
  </p:slideViewPr>
  <p:notesTextViewPr>
    <p:cViewPr>
      <p:scale>
        <a:sx n="1" d="1"/>
        <a:sy n="1" d="1"/>
      </p:scale>
      <p:origin x="0" y="0"/>
    </p:cViewPr>
  </p:notesTextViewPr>
  <p:sorterViewPr>
    <p:cViewPr>
      <p:scale>
        <a:sx n="66" d="100"/>
        <a:sy n="66" d="100"/>
      </p:scale>
      <p:origin x="0" y="-314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636322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0375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21285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5343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0452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0616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4251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528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1739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398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8425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5042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7264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9240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24442db786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124442db786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g124442db786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extLst>
      <p:ext uri="{BB962C8B-B14F-4D97-AF65-F5344CB8AC3E}">
        <p14:creationId xmlns:p14="http://schemas.microsoft.com/office/powerpoint/2010/main" val="2450672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7154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9059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5495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798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7347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7382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9051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40056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2988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12333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1498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6756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812109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24442db7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124442db77d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g124442db77d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32</a:t>
            </a:fld>
            <a:endParaRPr/>
          </a:p>
        </p:txBody>
      </p:sp>
    </p:spTree>
    <p:extLst>
      <p:ext uri="{BB962C8B-B14F-4D97-AF65-F5344CB8AC3E}">
        <p14:creationId xmlns:p14="http://schemas.microsoft.com/office/powerpoint/2010/main" val="23410125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3052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1"/>
        <p:cNvGrpSpPr/>
        <p:nvPr/>
      </p:nvGrpSpPr>
      <p:grpSpPr>
        <a:xfrm>
          <a:off x="0" y="0"/>
          <a:ext cx="0" cy="0"/>
          <a:chOff x="0" y="0"/>
          <a:chExt cx="0" cy="0"/>
        </a:xfrm>
      </p:grpSpPr>
      <p:cxnSp>
        <p:nvCxnSpPr>
          <p:cNvPr id="22" name="Google Shape;22;p36"/>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23" name="Google Shape;23;p36" descr="A close up of a logo&#10;&#10;Description automatically generated"/>
          <p:cNvPicPr preferRelativeResize="0"/>
          <p:nvPr/>
        </p:nvPicPr>
        <p:blipFill rotWithShape="1">
          <a:blip r:embed="rId2">
            <a:alphaModFix/>
          </a:blip>
          <a:srcRect/>
          <a:stretch/>
        </p:blipFill>
        <p:spPr>
          <a:xfrm>
            <a:off x="10659519" y="469890"/>
            <a:ext cx="933598" cy="1398963"/>
          </a:xfrm>
          <a:prstGeom prst="rect">
            <a:avLst/>
          </a:prstGeom>
          <a:noFill/>
          <a:ln>
            <a:noFill/>
          </a:ln>
        </p:spPr>
      </p:pic>
      <p:sp>
        <p:nvSpPr>
          <p:cNvPr id="24" name="Google Shape;24;p36"/>
          <p:cNvSpPr/>
          <p:nvPr/>
        </p:nvSpPr>
        <p:spPr>
          <a:xfrm>
            <a:off x="146798" y="303979"/>
            <a:ext cx="812103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2F5496"/>
                </a:solidFill>
                <a:latin typeface="Calibri"/>
                <a:ea typeface="Calibri"/>
                <a:cs typeface="Calibri"/>
                <a:sym typeface="Calibri"/>
              </a:rPr>
              <a:t>Object Oriented Analysis and Design with Java</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3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 name="Google Shape;2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7"/>
        <p:cNvGrpSpPr/>
        <p:nvPr/>
      </p:nvGrpSpPr>
      <p:grpSpPr>
        <a:xfrm>
          <a:off x="0" y="0"/>
          <a:ext cx="0" cy="0"/>
          <a:chOff x="0" y="0"/>
          <a:chExt cx="0" cy="0"/>
        </a:xfrm>
      </p:grpSpPr>
      <p:sp>
        <p:nvSpPr>
          <p:cNvPr id="38" name="Google Shape;38;p4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 name="Google Shape;40;p4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4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4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1"/>
        <p:cNvGrpSpPr/>
        <p:nvPr/>
      </p:nvGrpSpPr>
      <p:grpSpPr>
        <a:xfrm>
          <a:off x="0" y="0"/>
          <a:ext cx="0" cy="0"/>
          <a:chOff x="0" y="0"/>
          <a:chExt cx="0" cy="0"/>
        </a:xfrm>
      </p:grpSpPr>
      <p:sp>
        <p:nvSpPr>
          <p:cNvPr id="52" name="Google Shape;52;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4" name="Google Shape;54;p4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5" name="Google Shape;5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8"/>
        <p:cNvGrpSpPr/>
        <p:nvPr/>
      </p:nvGrpSpPr>
      <p:grpSpPr>
        <a:xfrm>
          <a:off x="0" y="0"/>
          <a:ext cx="0" cy="0"/>
          <a:chOff x="0" y="0"/>
          <a:chExt cx="0" cy="0"/>
        </a:xfrm>
      </p:grpSpPr>
      <p:sp>
        <p:nvSpPr>
          <p:cNvPr id="59" name="Google Shape;59;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3"/>
          <p:cNvSpPr>
            <a:spLocks noGrp="1"/>
          </p:cNvSpPr>
          <p:nvPr>
            <p:ph type="pic" idx="2"/>
          </p:nvPr>
        </p:nvSpPr>
        <p:spPr>
          <a:xfrm>
            <a:off x="5183188" y="987425"/>
            <a:ext cx="6172200" cy="4873625"/>
          </a:xfrm>
          <a:prstGeom prst="rect">
            <a:avLst/>
          </a:prstGeom>
          <a:noFill/>
          <a:ln>
            <a:noFill/>
          </a:ln>
        </p:spPr>
      </p:sp>
      <p:sp>
        <p:nvSpPr>
          <p:cNvPr id="61" name="Google Shape;61;p4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5"/>
        <p:cNvGrpSpPr/>
        <p:nvPr/>
      </p:nvGrpSpPr>
      <p:grpSpPr>
        <a:xfrm>
          <a:off x="0" y="0"/>
          <a:ext cx="0" cy="0"/>
          <a:chOff x="0" y="0"/>
          <a:chExt cx="0" cy="0"/>
        </a:xfrm>
      </p:grpSpPr>
      <p:sp>
        <p:nvSpPr>
          <p:cNvPr id="66" name="Google Shape;66;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1"/>
        <p:cNvGrpSpPr/>
        <p:nvPr/>
      </p:nvGrpSpPr>
      <p:grpSpPr>
        <a:xfrm>
          <a:off x="0" y="0"/>
          <a:ext cx="0" cy="0"/>
          <a:chOff x="0" y="0"/>
          <a:chExt cx="0" cy="0"/>
        </a:xfrm>
      </p:grpSpPr>
      <p:sp>
        <p:nvSpPr>
          <p:cNvPr id="72" name="Google Shape;72;p4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77"/>
        <p:cNvGrpSpPr/>
        <p:nvPr/>
      </p:nvGrpSpPr>
      <p:grpSpPr>
        <a:xfrm>
          <a:off x="0" y="0"/>
          <a:ext cx="0" cy="0"/>
          <a:chOff x="0" y="0"/>
          <a:chExt cx="0" cy="0"/>
        </a:xfrm>
      </p:grpSpPr>
      <p:sp>
        <p:nvSpPr>
          <p:cNvPr id="78" name="Google Shape;78;p65"/>
          <p:cNvSpPr txBox="1">
            <a:spLocks noGrp="1"/>
          </p:cNvSpPr>
          <p:nvPr>
            <p:ph type="dt" idx="10"/>
          </p:nvPr>
        </p:nvSpPr>
        <p:spPr>
          <a:xfrm>
            <a:off x="838200" y="6356354"/>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79" name="Google Shape;79;p65"/>
          <p:cNvSpPr txBox="1">
            <a:spLocks noGrp="1"/>
          </p:cNvSpPr>
          <p:nvPr>
            <p:ph type="ftr" idx="11"/>
          </p:nvPr>
        </p:nvSpPr>
        <p:spPr>
          <a:xfrm>
            <a:off x="4038600" y="6356354"/>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80" name="Google Shape;80;p65"/>
          <p:cNvSpPr txBox="1">
            <a:spLocks noGrp="1"/>
          </p:cNvSpPr>
          <p:nvPr>
            <p:ph type="sldNum" idx="12"/>
          </p:nvPr>
        </p:nvSpPr>
        <p:spPr>
          <a:xfrm>
            <a:off x="8610600" y="6356354"/>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81" name="Google Shape;81;p65"/>
          <p:cNvPicPr preferRelativeResize="0"/>
          <p:nvPr/>
        </p:nvPicPr>
        <p:blipFill rotWithShape="1">
          <a:blip r:embed="rId2">
            <a:alphaModFix/>
          </a:blip>
          <a:srcRect/>
          <a:stretch/>
        </p:blipFill>
        <p:spPr>
          <a:xfrm>
            <a:off x="11052956" y="136525"/>
            <a:ext cx="932769" cy="1402202"/>
          </a:xfrm>
          <a:prstGeom prst="rect">
            <a:avLst/>
          </a:prstGeom>
          <a:noFill/>
          <a:ln>
            <a:noFill/>
          </a:ln>
        </p:spPr>
      </p:pic>
      <p:sp>
        <p:nvSpPr>
          <p:cNvPr id="82" name="Google Shape;82;p65"/>
          <p:cNvSpPr/>
          <p:nvPr/>
        </p:nvSpPr>
        <p:spPr>
          <a:xfrm>
            <a:off x="18587" y="0"/>
            <a:ext cx="9022976" cy="64629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70C0"/>
              </a:buClr>
              <a:buSzPts val="2400"/>
              <a:buFont typeface="Calibri"/>
              <a:buNone/>
            </a:pPr>
            <a:r>
              <a:rPr lang="en-US" sz="2400" b="1" i="0" u="none" strike="noStrike" cap="none">
                <a:solidFill>
                  <a:srgbClr val="0070C0"/>
                </a:solidFill>
                <a:latin typeface="Calibri"/>
                <a:ea typeface="Calibri"/>
                <a:cs typeface="Calibri"/>
                <a:sym typeface="Calibri"/>
              </a:rPr>
              <a:t>CLASS DIAGRAM</a:t>
            </a:r>
            <a:endParaRPr sz="2400" b="0" i="0" u="none" strike="noStrike" cap="none">
              <a:solidFill>
                <a:schemeClr val="dk1"/>
              </a:solidFill>
              <a:latin typeface="Times New Roman"/>
              <a:ea typeface="Times New Roman"/>
              <a:cs typeface="Times New Roman"/>
              <a:sym typeface="Times New Roman"/>
            </a:endParaRPr>
          </a:p>
        </p:txBody>
      </p:sp>
      <p:cxnSp>
        <p:nvCxnSpPr>
          <p:cNvPr id="83" name="Google Shape;83;p65"/>
          <p:cNvCxnSpPr/>
          <p:nvPr/>
        </p:nvCxnSpPr>
        <p:spPr>
          <a:xfrm>
            <a:off x="18588" y="1087663"/>
            <a:ext cx="5817437" cy="0"/>
          </a:xfrm>
          <a:prstGeom prst="straightConnector1">
            <a:avLst/>
          </a:prstGeom>
          <a:noFill/>
          <a:ln w="38100" cap="flat" cmpd="sng">
            <a:solidFill>
              <a:srgbClr val="DFA267"/>
            </a:solidFill>
            <a:prstDash val="solid"/>
            <a:miter lim="800000"/>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journaldev.com/592/java-try-with-resource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cs.uah.edu/~rcoleman/CS307/DesignPatterns/DP17-ChainOfResponsibility.htm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thetechstack.net/chain-of-responsibility-design-pattern/" TargetMode="External"/><Relationship Id="rId4" Type="http://schemas.openxmlformats.org/officeDocument/2006/relationships/hyperlink" Target="https://refactoring.guru/design-patterns"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4781916" y="4415503"/>
            <a:ext cx="749721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Prof.J.Ruby Dinakar</a:t>
            </a:r>
            <a:endParaRPr sz="2400" b="1" i="0" u="none" strike="noStrike" cap="none">
              <a:solidFill>
                <a:schemeClr val="dk1"/>
              </a:solidFill>
              <a:latin typeface="Calibri"/>
              <a:ea typeface="Calibri"/>
              <a:cs typeface="Calibri"/>
              <a:sym typeface="Calibri"/>
            </a:endParaRPr>
          </a:p>
        </p:txBody>
      </p:sp>
      <p:sp>
        <p:nvSpPr>
          <p:cNvPr id="89" name="Google Shape;89;p1"/>
          <p:cNvSpPr/>
          <p:nvPr/>
        </p:nvSpPr>
        <p:spPr>
          <a:xfrm>
            <a:off x="4781916" y="4813108"/>
            <a:ext cx="663463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Department of Computer Science and Engineering</a:t>
            </a:r>
            <a:endParaRPr sz="2400" b="0" i="0" u="none" strike="noStrike" cap="none">
              <a:solidFill>
                <a:schemeClr val="dk1"/>
              </a:solidFill>
              <a:latin typeface="Calibri"/>
              <a:ea typeface="Calibri"/>
              <a:cs typeface="Calibri"/>
              <a:sym typeface="Calibri"/>
            </a:endParaRPr>
          </a:p>
        </p:txBody>
      </p:sp>
      <p:grpSp>
        <p:nvGrpSpPr>
          <p:cNvPr id="90" name="Google Shape;90;p1"/>
          <p:cNvGrpSpPr/>
          <p:nvPr/>
        </p:nvGrpSpPr>
        <p:grpSpPr>
          <a:xfrm>
            <a:off x="313844" y="5489699"/>
            <a:ext cx="1066895" cy="1078155"/>
            <a:chOff x="313844" y="5489699"/>
            <a:chExt cx="1066895" cy="1078155"/>
          </a:xfrm>
        </p:grpSpPr>
        <p:sp>
          <p:nvSpPr>
            <p:cNvPr id="91" name="Google Shape;91;p1"/>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2" name="Google Shape;92;p1"/>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cxnSp>
        <p:nvCxnSpPr>
          <p:cNvPr id="93" name="Google Shape;93;p1"/>
          <p:cNvCxnSpPr/>
          <p:nvPr/>
        </p:nvCxnSpPr>
        <p:spPr>
          <a:xfrm rot="10800000" flipH="1">
            <a:off x="4781916" y="4112436"/>
            <a:ext cx="4581449" cy="1"/>
          </a:xfrm>
          <a:prstGeom prst="straightConnector1">
            <a:avLst/>
          </a:prstGeom>
          <a:noFill/>
          <a:ln w="38100" cap="flat" cmpd="sng">
            <a:solidFill>
              <a:srgbClr val="C55A11"/>
            </a:solidFill>
            <a:prstDash val="solid"/>
            <a:miter lim="800000"/>
            <a:headEnd type="none" w="sm" len="sm"/>
            <a:tailEnd type="none" w="sm" len="sm"/>
          </a:ln>
        </p:spPr>
      </p:cxnSp>
      <p:pic>
        <p:nvPicPr>
          <p:cNvPr id="94" name="Google Shape;94;p1" descr="A close up of a logo&#10;&#10;Description automatically generated"/>
          <p:cNvPicPr preferRelativeResize="0"/>
          <p:nvPr/>
        </p:nvPicPr>
        <p:blipFill rotWithShape="1">
          <a:blip r:embed="rId3">
            <a:alphaModFix/>
          </a:blip>
          <a:srcRect/>
          <a:stretch/>
        </p:blipFill>
        <p:spPr>
          <a:xfrm>
            <a:off x="1745722" y="1606241"/>
            <a:ext cx="2369218" cy="3550188"/>
          </a:xfrm>
          <a:prstGeom prst="rect">
            <a:avLst/>
          </a:prstGeom>
          <a:noFill/>
          <a:ln>
            <a:noFill/>
          </a:ln>
        </p:spPr>
      </p:pic>
      <p:grpSp>
        <p:nvGrpSpPr>
          <p:cNvPr id="95" name="Google Shape;95;p1"/>
          <p:cNvGrpSpPr/>
          <p:nvPr/>
        </p:nvGrpSpPr>
        <p:grpSpPr>
          <a:xfrm rot="10800000">
            <a:off x="10855702" y="266068"/>
            <a:ext cx="1066895" cy="1078155"/>
            <a:chOff x="313844" y="5489699"/>
            <a:chExt cx="1066895" cy="1078155"/>
          </a:xfrm>
        </p:grpSpPr>
        <p:sp>
          <p:nvSpPr>
            <p:cNvPr id="96" name="Google Shape;96;p1"/>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 name="Google Shape;97;p1"/>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98" name="Google Shape;98;p1"/>
          <p:cNvSpPr/>
          <p:nvPr/>
        </p:nvSpPr>
        <p:spPr>
          <a:xfrm>
            <a:off x="4545864" y="1938474"/>
            <a:ext cx="7497214"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5A11"/>
                </a:solidFill>
                <a:latin typeface="Calibri"/>
                <a:ea typeface="Calibri"/>
                <a:cs typeface="Calibri"/>
                <a:sym typeface="Calibri"/>
              </a:rPr>
              <a:t>Object Oriented Analysis and Design with Java</a:t>
            </a:r>
            <a:endParaRPr sz="1400" b="0" i="0" u="none" strike="noStrike" cap="none">
              <a:solidFill>
                <a:srgbClr val="000000"/>
              </a:solidFill>
              <a:latin typeface="Arial"/>
              <a:ea typeface="Arial"/>
              <a:cs typeface="Arial"/>
              <a:sym typeface="Arial"/>
            </a:endParaRPr>
          </a:p>
        </p:txBody>
      </p:sp>
      <p:sp>
        <p:nvSpPr>
          <p:cNvPr id="99" name="Google Shape;99;p1"/>
          <p:cNvSpPr txBox="1"/>
          <p:nvPr/>
        </p:nvSpPr>
        <p:spPr>
          <a:xfrm>
            <a:off x="4610580" y="3278957"/>
            <a:ext cx="2290725"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C55A11"/>
                </a:solidFill>
                <a:latin typeface="Calibri"/>
                <a:ea typeface="Calibri"/>
                <a:cs typeface="Calibri"/>
                <a:sym typeface="Calibri"/>
              </a:rPr>
              <a:t>UE19CS353</a:t>
            </a:r>
            <a:endParaRPr sz="3200" b="1" i="0" u="none" strike="noStrike" cap="none">
              <a:solidFill>
                <a:srgbClr val="C55A11"/>
              </a:solidFill>
              <a:latin typeface="Calibri"/>
              <a:ea typeface="Calibri"/>
              <a:cs typeface="Calibri"/>
              <a:sym typeface="Calibri"/>
            </a:endParaRPr>
          </a:p>
        </p:txBody>
      </p:sp>
      <p:pic>
        <p:nvPicPr>
          <p:cNvPr id="100" name="Google Shape;100;p1"/>
          <p:cNvPicPr preferRelativeResize="0"/>
          <p:nvPr/>
        </p:nvPicPr>
        <p:blipFill rotWithShape="1">
          <a:blip r:embed="rId4">
            <a:alphaModFix/>
          </a:blip>
          <a:srcRect/>
          <a:stretch/>
        </p:blipFill>
        <p:spPr>
          <a:xfrm>
            <a:off x="517676" y="5892224"/>
            <a:ext cx="11156647" cy="5974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
          <p:cNvSpPr/>
          <p:nvPr/>
        </p:nvSpPr>
        <p:spPr>
          <a:xfrm>
            <a:off x="179330" y="2890411"/>
            <a:ext cx="8998085" cy="10771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2F5496"/>
                </a:solidFill>
                <a:latin typeface="Calibri"/>
                <a:ea typeface="Calibri"/>
                <a:cs typeface="Calibri"/>
                <a:sym typeface="Calibri"/>
              </a:rPr>
              <a:t>OO Design Patterns &amp; Anti-Patterns with Sample implementation in Java</a:t>
            </a:r>
            <a:endParaRPr sz="1400" b="0" i="0" u="none" strike="noStrike" cap="none">
              <a:solidFill>
                <a:srgbClr val="000000"/>
              </a:solidFill>
              <a:latin typeface="Arial"/>
              <a:ea typeface="Arial"/>
              <a:cs typeface="Arial"/>
              <a:sym typeface="Arial"/>
            </a:endParaRPr>
          </a:p>
        </p:txBody>
      </p:sp>
      <p:sp>
        <p:nvSpPr>
          <p:cNvPr id="106" name="Google Shape;106;p2"/>
          <p:cNvSpPr/>
          <p:nvPr/>
        </p:nvSpPr>
        <p:spPr>
          <a:xfrm>
            <a:off x="598883" y="5887304"/>
            <a:ext cx="749721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Department of Computer Science and  Engineering</a:t>
            </a:r>
            <a:endParaRPr sz="2000" b="0" i="0" u="none" strike="noStrike" cap="none">
              <a:solidFill>
                <a:schemeClr val="dk1"/>
              </a:solidFill>
              <a:latin typeface="Calibri"/>
              <a:ea typeface="Calibri"/>
              <a:cs typeface="Calibri"/>
              <a:sym typeface="Calibri"/>
            </a:endParaRPr>
          </a:p>
        </p:txBody>
      </p:sp>
      <p:grpSp>
        <p:nvGrpSpPr>
          <p:cNvPr id="107" name="Google Shape;107;p2"/>
          <p:cNvGrpSpPr/>
          <p:nvPr/>
        </p:nvGrpSpPr>
        <p:grpSpPr>
          <a:xfrm>
            <a:off x="313844" y="5489699"/>
            <a:ext cx="1066895" cy="1078155"/>
            <a:chOff x="313844" y="5489699"/>
            <a:chExt cx="1066895" cy="1078155"/>
          </a:xfrm>
        </p:grpSpPr>
        <p:sp>
          <p:nvSpPr>
            <p:cNvPr id="108" name="Google Shape;108;p2"/>
            <p:cNvSpPr/>
            <p:nvPr/>
          </p:nvSpPr>
          <p:spPr>
            <a:xfrm rot="5400000">
              <a:off x="824432" y="6011547"/>
              <a:ext cx="45719" cy="1066895"/>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 name="Google Shape;109;p2"/>
            <p:cNvSpPr/>
            <p:nvPr/>
          </p:nvSpPr>
          <p:spPr>
            <a:xfrm rot="10800000">
              <a:off x="313844" y="5489699"/>
              <a:ext cx="45719" cy="1066895"/>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cxnSp>
        <p:nvCxnSpPr>
          <p:cNvPr id="110" name="Google Shape;110;p2"/>
          <p:cNvCxnSpPr/>
          <p:nvPr/>
        </p:nvCxnSpPr>
        <p:spPr>
          <a:xfrm>
            <a:off x="164387" y="2763388"/>
            <a:ext cx="8833698" cy="0"/>
          </a:xfrm>
          <a:prstGeom prst="straightConnector1">
            <a:avLst/>
          </a:prstGeom>
          <a:noFill/>
          <a:ln w="38100" cap="flat" cmpd="sng">
            <a:solidFill>
              <a:srgbClr val="DFA267"/>
            </a:solidFill>
            <a:prstDash val="solid"/>
            <a:miter lim="800000"/>
            <a:headEnd type="none" w="sm" len="sm"/>
            <a:tailEnd type="none" w="sm" len="sm"/>
          </a:ln>
        </p:spPr>
      </p:cxnSp>
      <p:pic>
        <p:nvPicPr>
          <p:cNvPr id="111" name="Google Shape;111;p2" descr="A close up of a logo&#10;&#10;Description automatically generated"/>
          <p:cNvPicPr preferRelativeResize="0"/>
          <p:nvPr/>
        </p:nvPicPr>
        <p:blipFill rotWithShape="1">
          <a:blip r:embed="rId3">
            <a:alphaModFix/>
          </a:blip>
          <a:srcRect/>
          <a:stretch/>
        </p:blipFill>
        <p:spPr>
          <a:xfrm>
            <a:off x="10659519" y="469890"/>
            <a:ext cx="933598" cy="1398963"/>
          </a:xfrm>
          <a:prstGeom prst="rect">
            <a:avLst/>
          </a:prstGeom>
          <a:noFill/>
          <a:ln>
            <a:noFill/>
          </a:ln>
        </p:spPr>
      </p:pic>
      <p:sp>
        <p:nvSpPr>
          <p:cNvPr id="112" name="Google Shape;112;p2"/>
          <p:cNvSpPr/>
          <p:nvPr/>
        </p:nvSpPr>
        <p:spPr>
          <a:xfrm>
            <a:off x="1" y="1726230"/>
            <a:ext cx="9177414"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C55A11"/>
                </a:solidFill>
                <a:latin typeface="Calibri"/>
                <a:ea typeface="Calibri"/>
                <a:cs typeface="Calibri"/>
                <a:sym typeface="Calibri"/>
              </a:rPr>
              <a:t>UE19CS353: Object Oriented Analysis and Design with Java</a:t>
            </a:r>
            <a:endParaRPr sz="1400" b="0" i="0" u="none" strike="noStrike" cap="none">
              <a:solidFill>
                <a:srgbClr val="000000"/>
              </a:solidFill>
              <a:latin typeface="Arial"/>
              <a:ea typeface="Arial"/>
              <a:cs typeface="Arial"/>
              <a:sym typeface="Arial"/>
            </a:endParaRPr>
          </a:p>
        </p:txBody>
      </p:sp>
      <p:sp>
        <p:nvSpPr>
          <p:cNvPr id="113" name="Google Shape;113;p2"/>
          <p:cNvSpPr txBox="1"/>
          <p:nvPr/>
        </p:nvSpPr>
        <p:spPr>
          <a:xfrm>
            <a:off x="598883" y="5505548"/>
            <a:ext cx="494588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Prof. J.Ruby Dinakar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p:nvPr/>
        </p:nvSpPr>
        <p:spPr>
          <a:xfrm>
            <a:off x="1966403" y="2433952"/>
            <a:ext cx="609895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2F5496"/>
                </a:solidFill>
                <a:latin typeface="Calibri"/>
                <a:ea typeface="Calibri"/>
                <a:cs typeface="Calibri"/>
                <a:sym typeface="Calibri"/>
              </a:rPr>
              <a:t>Unit-5 </a:t>
            </a:r>
            <a:endParaRPr sz="2800" b="0" i="0" u="none" strike="noStrike" cap="none">
              <a:solidFill>
                <a:srgbClr val="000000"/>
              </a:solidFill>
              <a:latin typeface="Arial"/>
              <a:ea typeface="Arial"/>
              <a:cs typeface="Arial"/>
              <a:sym typeface="Arial"/>
            </a:endParaRPr>
          </a:p>
        </p:txBody>
      </p:sp>
      <p:sp>
        <p:nvSpPr>
          <p:cNvPr id="119" name="Google Shape;119;p3"/>
          <p:cNvSpPr txBox="1"/>
          <p:nvPr/>
        </p:nvSpPr>
        <p:spPr>
          <a:xfrm>
            <a:off x="1966403" y="3198167"/>
            <a:ext cx="768362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55A11"/>
              </a:buClr>
              <a:buSzPts val="2400"/>
              <a:buFont typeface="Arial"/>
              <a:buNone/>
            </a:pPr>
            <a:r>
              <a:rPr lang="en-US" sz="2400" b="1" i="0" u="none" strike="noStrike" cap="none">
                <a:solidFill>
                  <a:srgbClr val="C55A11"/>
                </a:solidFill>
                <a:latin typeface="Calibri"/>
                <a:ea typeface="Calibri"/>
                <a:cs typeface="Calibri"/>
                <a:sym typeface="Calibri"/>
              </a:rPr>
              <a:t>Behavioral Patterns – Chain of Responsibility Pattern</a:t>
            </a:r>
            <a:endParaRPr sz="8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6"/>
          <p:cNvSpPr txBox="1"/>
          <p:nvPr/>
        </p:nvSpPr>
        <p:spPr>
          <a:xfrm>
            <a:off x="173948" y="692436"/>
            <a:ext cx="63810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C55A11"/>
                </a:solidFill>
                <a:latin typeface="Calibri"/>
                <a:ea typeface="Calibri"/>
                <a:cs typeface="Calibri"/>
                <a:sym typeface="Calibri"/>
              </a:rPr>
              <a:t>Behavioral patterns</a:t>
            </a:r>
            <a:endParaRPr sz="1600" b="1" i="0" u="none" strike="noStrike" cap="none">
              <a:solidFill>
                <a:srgbClr val="000000"/>
              </a:solidFill>
              <a:latin typeface="Arial"/>
              <a:ea typeface="Arial"/>
              <a:cs typeface="Arial"/>
              <a:sym typeface="Arial"/>
            </a:endParaRPr>
          </a:p>
        </p:txBody>
      </p:sp>
      <p:sp>
        <p:nvSpPr>
          <p:cNvPr id="125" name="Google Shape;125;p46"/>
          <p:cNvSpPr txBox="1"/>
          <p:nvPr/>
        </p:nvSpPr>
        <p:spPr>
          <a:xfrm>
            <a:off x="173948" y="1520343"/>
            <a:ext cx="10230681" cy="4093388"/>
          </a:xfrm>
          <a:prstGeom prst="rect">
            <a:avLst/>
          </a:prstGeom>
          <a:noFill/>
          <a:ln>
            <a:noFill/>
          </a:ln>
        </p:spPr>
        <p:txBody>
          <a:bodyPr spcFirstLastPara="1" wrap="square" lIns="91425" tIns="45700" rIns="91425" bIns="45700" anchor="t" anchorCtr="0">
            <a:spAutoFit/>
          </a:bodyPr>
          <a:lstStyle/>
          <a:p>
            <a:pPr marL="0" marR="0" lvl="0" indent="0" algn="just" rtl="0">
              <a:lnSpc>
                <a:spcPct val="200000"/>
              </a:lnSpc>
              <a:spcBef>
                <a:spcPts val="0"/>
              </a:spcBef>
              <a:spcAft>
                <a:spcPts val="0"/>
              </a:spcAft>
              <a:buNone/>
            </a:pPr>
            <a:r>
              <a:rPr lang="en-US" sz="2000" b="0" i="0" u="none" strike="noStrike" cap="none">
                <a:solidFill>
                  <a:srgbClr val="000000"/>
                </a:solidFill>
                <a:latin typeface="Calibri"/>
                <a:ea typeface="Calibri"/>
                <a:cs typeface="Calibri"/>
                <a:sym typeface="Calibri"/>
              </a:rPr>
              <a:t>Behavioral design patterns are design patterns that </a:t>
            </a:r>
            <a:r>
              <a:rPr lang="en-US" sz="2000" b="0" i="0" u="none" strike="noStrike" cap="none">
                <a:solidFill>
                  <a:srgbClr val="FF0000"/>
                </a:solidFill>
                <a:latin typeface="Calibri"/>
                <a:ea typeface="Calibri"/>
                <a:cs typeface="Calibri"/>
                <a:sym typeface="Calibri"/>
              </a:rPr>
              <a:t>identify common communication patterns </a:t>
            </a:r>
            <a:r>
              <a:rPr lang="en-US" sz="2000" b="0" i="0" u="none" strike="noStrike" cap="none">
                <a:solidFill>
                  <a:srgbClr val="000000"/>
                </a:solidFill>
                <a:latin typeface="Calibri"/>
                <a:ea typeface="Calibri"/>
                <a:cs typeface="Calibri"/>
                <a:sym typeface="Calibri"/>
              </a:rPr>
              <a:t>between objects and realize these patterns. </a:t>
            </a:r>
            <a:endParaRPr/>
          </a:p>
          <a:p>
            <a:pPr marL="0" marR="0" lvl="0" indent="0" algn="just" rtl="0">
              <a:lnSpc>
                <a:spcPct val="200000"/>
              </a:lnSpc>
              <a:spcBef>
                <a:spcPts val="0"/>
              </a:spcBef>
              <a:spcAft>
                <a:spcPts val="0"/>
              </a:spcAft>
              <a:buNone/>
            </a:pPr>
            <a:r>
              <a:rPr lang="en-US" sz="2000" b="0" i="0" u="none" strike="noStrike" cap="none">
                <a:solidFill>
                  <a:srgbClr val="000000"/>
                </a:solidFill>
                <a:latin typeface="Calibri"/>
                <a:ea typeface="Calibri"/>
                <a:cs typeface="Calibri"/>
                <a:sym typeface="Calibri"/>
              </a:rPr>
              <a:t>These patterns increase flexibility in carrying out this communication.</a:t>
            </a:r>
            <a:endParaRPr/>
          </a:p>
          <a:p>
            <a:pPr marL="0" marR="0" lvl="0" indent="0" algn="just" rtl="0">
              <a:lnSpc>
                <a:spcPct val="200000"/>
              </a:lnSpc>
              <a:spcBef>
                <a:spcPts val="0"/>
              </a:spcBef>
              <a:spcAft>
                <a:spcPts val="0"/>
              </a:spcAft>
              <a:buNone/>
            </a:pPr>
            <a:r>
              <a:rPr lang="en-US" sz="2000" b="0" i="0" u="none" strike="noStrike" cap="none">
                <a:solidFill>
                  <a:srgbClr val="000000"/>
                </a:solidFill>
                <a:latin typeface="Calibri"/>
                <a:ea typeface="Calibri"/>
                <a:cs typeface="Calibri"/>
                <a:sym typeface="Calibri"/>
              </a:rPr>
              <a:t>Behavioral patterns </a:t>
            </a:r>
            <a:r>
              <a:rPr lang="en-US" sz="2000" b="0" i="0" u="none" strike="noStrike" cap="none">
                <a:solidFill>
                  <a:srgbClr val="FF0000"/>
                </a:solidFill>
                <a:latin typeface="Calibri"/>
                <a:ea typeface="Calibri"/>
                <a:cs typeface="Calibri"/>
                <a:sym typeface="Calibri"/>
              </a:rPr>
              <a:t>influence how state and behavior flow through a system</a:t>
            </a:r>
            <a:r>
              <a:rPr lang="en-US" sz="2000" b="0" i="0" u="none" strike="noStrike" cap="none">
                <a:solidFill>
                  <a:srgbClr val="000000"/>
                </a:solidFill>
                <a:latin typeface="Calibri"/>
                <a:ea typeface="Calibri"/>
                <a:cs typeface="Calibri"/>
                <a:sym typeface="Calibri"/>
              </a:rPr>
              <a:t>. </a:t>
            </a:r>
            <a:endParaRPr/>
          </a:p>
          <a:p>
            <a:pPr marL="0" marR="0" lvl="0" indent="0" algn="just" rtl="0">
              <a:lnSpc>
                <a:spcPct val="200000"/>
              </a:lnSpc>
              <a:spcBef>
                <a:spcPts val="0"/>
              </a:spcBef>
              <a:spcAft>
                <a:spcPts val="0"/>
              </a:spcAft>
              <a:buNone/>
            </a:pPr>
            <a:r>
              <a:rPr lang="en-US" sz="2000" b="0" i="0" u="none" strike="noStrike" cap="none">
                <a:solidFill>
                  <a:srgbClr val="000000"/>
                </a:solidFill>
                <a:latin typeface="Calibri"/>
                <a:ea typeface="Calibri"/>
                <a:cs typeface="Calibri"/>
                <a:sym typeface="Calibri"/>
              </a:rPr>
              <a:t>By optimizing how state and behavior are transferred and modified, you can simplify, optimize, and increase the maintainability of an application</a:t>
            </a:r>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p:nvPr/>
        </p:nvSpPr>
        <p:spPr>
          <a:xfrm>
            <a:off x="292963" y="1420617"/>
            <a:ext cx="10076155" cy="522476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Chain of responsibility: </a:t>
            </a:r>
            <a:r>
              <a:rPr lang="en-US" sz="1600" b="0" i="0" u="none" strike="noStrike" cap="none">
                <a:solidFill>
                  <a:srgbClr val="000000"/>
                </a:solidFill>
                <a:latin typeface="Calibri"/>
                <a:ea typeface="Calibri"/>
                <a:cs typeface="Calibri"/>
                <a:sym typeface="Calibri"/>
              </a:rPr>
              <a:t>Command objects are handled or passed on to other objects by logic-containing processing objects</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Command: </a:t>
            </a:r>
            <a:r>
              <a:rPr lang="en-US" sz="1600" b="0" i="0" u="none" strike="noStrike" cap="none">
                <a:solidFill>
                  <a:srgbClr val="000000"/>
                </a:solidFill>
                <a:latin typeface="Calibri"/>
                <a:ea typeface="Calibri"/>
                <a:cs typeface="Calibri"/>
                <a:sym typeface="Calibri"/>
              </a:rPr>
              <a:t>Command objects encapsulate an action and its parameters</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Interpreter:</a:t>
            </a:r>
            <a:r>
              <a:rPr lang="en-US" sz="1600" b="0" i="0" u="none" strike="noStrike" cap="none">
                <a:solidFill>
                  <a:srgbClr val="000000"/>
                </a:solidFill>
                <a:latin typeface="Calibri"/>
                <a:ea typeface="Calibri"/>
                <a:cs typeface="Calibri"/>
                <a:sym typeface="Calibri"/>
              </a:rPr>
              <a:t> Implement a specialized computer language to rapidly solve a specific set of problems</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Iterator:</a:t>
            </a:r>
            <a:r>
              <a:rPr lang="en-US" sz="1600" b="0" i="0" u="none" strike="noStrike" cap="none">
                <a:solidFill>
                  <a:srgbClr val="000000"/>
                </a:solidFill>
                <a:latin typeface="Calibri"/>
                <a:ea typeface="Calibri"/>
                <a:cs typeface="Calibri"/>
                <a:sym typeface="Calibri"/>
              </a:rPr>
              <a:t> Iterators are used to access the elements of an aggregate object sequentially without exposing its underlying representation</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Mediator: </a:t>
            </a:r>
            <a:r>
              <a:rPr lang="en-US" sz="1600" b="0" i="0" u="none" strike="noStrike" cap="none">
                <a:solidFill>
                  <a:srgbClr val="000000"/>
                </a:solidFill>
                <a:latin typeface="Calibri"/>
                <a:ea typeface="Calibri"/>
                <a:cs typeface="Calibri"/>
                <a:sym typeface="Calibri"/>
              </a:rPr>
              <a:t>Provides a unified interface to a set of interfaces in a subsystem</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Memento: </a:t>
            </a:r>
            <a:r>
              <a:rPr lang="en-US" sz="1600" b="0" i="0" u="none" strike="noStrike" cap="none">
                <a:solidFill>
                  <a:srgbClr val="000000"/>
                </a:solidFill>
                <a:latin typeface="Calibri"/>
                <a:ea typeface="Calibri"/>
                <a:cs typeface="Calibri"/>
                <a:sym typeface="Calibri"/>
              </a:rPr>
              <a:t>Provides the ability to restore an object to its previous state (rollback)</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Observer: </a:t>
            </a:r>
            <a:r>
              <a:rPr lang="en-US" sz="1600" b="0" i="0" u="none" strike="noStrike" cap="none">
                <a:solidFill>
                  <a:srgbClr val="000000"/>
                </a:solidFill>
                <a:latin typeface="Calibri"/>
                <a:ea typeface="Calibri"/>
                <a:cs typeface="Calibri"/>
                <a:sym typeface="Calibri"/>
              </a:rPr>
              <a:t>also known as Publish/Subscribe or Event Listener. Objects register to observe an event that may be raised by another object</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State: </a:t>
            </a:r>
            <a:r>
              <a:rPr lang="en-US" sz="1600" b="0" i="0" u="none" strike="noStrike" cap="none">
                <a:solidFill>
                  <a:srgbClr val="000000"/>
                </a:solidFill>
                <a:latin typeface="Calibri"/>
                <a:ea typeface="Calibri"/>
                <a:cs typeface="Calibri"/>
                <a:sym typeface="Calibri"/>
              </a:rPr>
              <a:t>A clean way for an object to partially change its type at runtime</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Strategy:</a:t>
            </a:r>
            <a:r>
              <a:rPr lang="en-US" sz="1600" b="0" i="0" u="none" strike="noStrike" cap="none">
                <a:solidFill>
                  <a:srgbClr val="000000"/>
                </a:solidFill>
                <a:latin typeface="Calibri"/>
                <a:ea typeface="Calibri"/>
                <a:cs typeface="Calibri"/>
                <a:sym typeface="Calibri"/>
              </a:rPr>
              <a:t> Algorithms can be selected on the fly</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Template Method: </a:t>
            </a:r>
            <a:r>
              <a:rPr lang="en-US" sz="1600" b="0" i="0" u="none" strike="noStrike" cap="none">
                <a:solidFill>
                  <a:srgbClr val="000000"/>
                </a:solidFill>
                <a:latin typeface="Calibri"/>
                <a:ea typeface="Calibri"/>
                <a:cs typeface="Calibri"/>
                <a:sym typeface="Calibri"/>
              </a:rPr>
              <a:t>Describes the program skeleton of a program</a:t>
            </a:r>
            <a:endParaRPr/>
          </a:p>
          <a:p>
            <a:pPr marL="0" marR="0" lvl="0" indent="0" algn="just" rtl="0">
              <a:lnSpc>
                <a:spcPct val="150000"/>
              </a:lnSpc>
              <a:spcBef>
                <a:spcPts val="0"/>
              </a:spcBef>
              <a:spcAft>
                <a:spcPts val="0"/>
              </a:spcAft>
              <a:buNone/>
            </a:pPr>
            <a:r>
              <a:rPr lang="en-US" sz="1600" b="1" i="0" u="none" strike="noStrike" cap="none">
                <a:solidFill>
                  <a:srgbClr val="000000"/>
                </a:solidFill>
                <a:latin typeface="Calibri"/>
                <a:ea typeface="Calibri"/>
                <a:cs typeface="Calibri"/>
                <a:sym typeface="Calibri"/>
              </a:rPr>
              <a:t>Visitor: </a:t>
            </a:r>
            <a:r>
              <a:rPr lang="en-US" sz="1600" b="0" i="0" u="none" strike="noStrike" cap="none">
                <a:solidFill>
                  <a:srgbClr val="000000"/>
                </a:solidFill>
                <a:latin typeface="Calibri"/>
                <a:ea typeface="Calibri"/>
                <a:cs typeface="Calibri"/>
                <a:sym typeface="Calibri"/>
              </a:rPr>
              <a:t>A way to separate an algorithm from an object</a:t>
            </a:r>
            <a:endParaRPr sz="1600" b="0" i="0" u="none" strike="noStrike" cap="none">
              <a:solidFill>
                <a:srgbClr val="000000"/>
              </a:solidFill>
              <a:latin typeface="Calibri"/>
              <a:ea typeface="Calibri"/>
              <a:cs typeface="Calibri"/>
              <a:sym typeface="Calibri"/>
            </a:endParaRPr>
          </a:p>
        </p:txBody>
      </p:sp>
      <p:sp>
        <p:nvSpPr>
          <p:cNvPr id="131" name="Google Shape;131;p4"/>
          <p:cNvSpPr txBox="1"/>
          <p:nvPr/>
        </p:nvSpPr>
        <p:spPr>
          <a:xfrm>
            <a:off x="62144" y="736846"/>
            <a:ext cx="10515600" cy="594804"/>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00000"/>
              </a:buClr>
              <a:buSzPts val="4400"/>
              <a:buFont typeface="Calibri"/>
              <a:buNone/>
            </a:pPr>
            <a:r>
              <a:rPr lang="en-US" sz="2400" b="1" i="0" u="none" strike="noStrike" cap="none">
                <a:solidFill>
                  <a:srgbClr val="C55A11"/>
                </a:solidFill>
                <a:latin typeface="Calibri"/>
                <a:ea typeface="Calibri"/>
                <a:cs typeface="Calibri"/>
                <a:sym typeface="Calibri"/>
              </a:rPr>
              <a:t>  List of common behavioral design patterns</a:t>
            </a:r>
            <a:endParaRPr sz="44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47"/>
          <p:cNvSpPr txBox="1"/>
          <p:nvPr/>
        </p:nvSpPr>
        <p:spPr>
          <a:xfrm>
            <a:off x="173948" y="899886"/>
            <a:ext cx="63809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Chain of Responsibility Pattern</a:t>
            </a:r>
            <a:endParaRPr sz="1400" b="1" i="0" u="none" strike="noStrike" cap="none">
              <a:solidFill>
                <a:srgbClr val="000000"/>
              </a:solidFill>
              <a:latin typeface="Arial"/>
              <a:ea typeface="Arial"/>
              <a:cs typeface="Arial"/>
              <a:sym typeface="Arial"/>
            </a:endParaRPr>
          </a:p>
        </p:txBody>
      </p:sp>
      <p:sp>
        <p:nvSpPr>
          <p:cNvPr id="137" name="Google Shape;137;p47"/>
          <p:cNvSpPr txBox="1"/>
          <p:nvPr/>
        </p:nvSpPr>
        <p:spPr>
          <a:xfrm>
            <a:off x="173947" y="1570439"/>
            <a:ext cx="10070884" cy="2769989"/>
          </a:xfrm>
          <a:prstGeom prst="rect">
            <a:avLst/>
          </a:prstGeom>
          <a:noFill/>
          <a:ln>
            <a:noFill/>
          </a:ln>
        </p:spPr>
        <p:txBody>
          <a:bodyPr spcFirstLastPara="1" wrap="square" lIns="91425" tIns="45700" rIns="91425" bIns="45700" anchor="t" anchorCtr="0">
            <a:spAutoFit/>
          </a:bodyPr>
          <a:lstStyle/>
          <a:p>
            <a:pPr marL="0" marR="0" lvl="0" indent="0" algn="just" rtl="0">
              <a:lnSpc>
                <a:spcPct val="2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The Chain of Responsibility pattern </a:t>
            </a:r>
            <a:r>
              <a:rPr lang="en-US" sz="2000" b="0" i="0" u="none" strike="noStrike" cap="none" dirty="0">
                <a:solidFill>
                  <a:srgbClr val="FF0000"/>
                </a:solidFill>
                <a:latin typeface="Calibri"/>
                <a:ea typeface="Calibri"/>
                <a:cs typeface="Calibri"/>
                <a:sym typeface="Calibri"/>
              </a:rPr>
              <a:t>establishes a chain </a:t>
            </a:r>
            <a:r>
              <a:rPr lang="en-US" sz="2000" b="0" i="0" u="none" strike="noStrike" cap="none" dirty="0">
                <a:solidFill>
                  <a:srgbClr val="000000"/>
                </a:solidFill>
                <a:latin typeface="Calibri"/>
                <a:ea typeface="Calibri"/>
                <a:cs typeface="Calibri"/>
                <a:sym typeface="Calibri"/>
              </a:rPr>
              <a:t>within a system, so that a message can either be handled at the level where it is first received, or be directed to an object that can handle it.</a:t>
            </a:r>
            <a:endParaRPr dirty="0"/>
          </a:p>
          <a:p>
            <a:pPr marL="0" marR="0" lvl="0" indent="0" algn="just" rtl="0">
              <a:lnSpc>
                <a:spcPct val="200000"/>
              </a:lnSpc>
              <a:spcBef>
                <a:spcPts val="0"/>
              </a:spcBef>
              <a:spcAft>
                <a:spcPts val="0"/>
              </a:spcAft>
              <a:buNone/>
            </a:pPr>
            <a:r>
              <a:rPr lang="en-US" sz="2000" dirty="0">
                <a:solidFill>
                  <a:schemeClr val="dk1"/>
                </a:solidFill>
                <a:latin typeface="Calibri"/>
                <a:ea typeface="Calibri"/>
                <a:cs typeface="Calibri"/>
                <a:sym typeface="Calibri"/>
              </a:rPr>
              <a:t>I</a:t>
            </a:r>
            <a:r>
              <a:rPr lang="en-US" sz="2000" b="0" i="0" u="none" strike="noStrike" cap="none" dirty="0" smtClean="0">
                <a:solidFill>
                  <a:schemeClr val="dk1"/>
                </a:solidFill>
                <a:latin typeface="Calibri"/>
                <a:ea typeface="Calibri"/>
                <a:cs typeface="Calibri"/>
                <a:sym typeface="Calibri"/>
              </a:rPr>
              <a:t>t </a:t>
            </a:r>
            <a:r>
              <a:rPr lang="en-US" sz="2000" b="0" i="0" u="none" strike="noStrike" cap="none" dirty="0">
                <a:solidFill>
                  <a:schemeClr val="dk1"/>
                </a:solidFill>
                <a:latin typeface="Calibri"/>
                <a:ea typeface="Calibri"/>
                <a:cs typeface="Calibri"/>
                <a:sym typeface="Calibri"/>
              </a:rPr>
              <a:t>is used to manage algorithms, relationships and responsibilities between objects</a:t>
            </a: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138" name="Google Shape;138;p47"/>
          <p:cNvPicPr preferRelativeResize="0"/>
          <p:nvPr/>
        </p:nvPicPr>
        <p:blipFill rotWithShape="1">
          <a:blip r:embed="rId3">
            <a:alphaModFix/>
          </a:blip>
          <a:srcRect/>
          <a:stretch/>
        </p:blipFill>
        <p:spPr>
          <a:xfrm>
            <a:off x="1747154" y="4552929"/>
            <a:ext cx="6450127" cy="1469263"/>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48"/>
          <p:cNvSpPr txBox="1"/>
          <p:nvPr/>
        </p:nvSpPr>
        <p:spPr>
          <a:xfrm>
            <a:off x="135038" y="773427"/>
            <a:ext cx="63809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Intent</a:t>
            </a:r>
            <a:endParaRPr sz="1400" b="1" i="0" u="none" strike="noStrike" cap="none">
              <a:solidFill>
                <a:srgbClr val="000000"/>
              </a:solidFill>
              <a:latin typeface="Arial"/>
              <a:ea typeface="Arial"/>
              <a:cs typeface="Arial"/>
              <a:sym typeface="Arial"/>
            </a:endParaRPr>
          </a:p>
        </p:txBody>
      </p:sp>
      <p:sp>
        <p:nvSpPr>
          <p:cNvPr id="144" name="Google Shape;144;p48"/>
          <p:cNvSpPr txBox="1"/>
          <p:nvPr/>
        </p:nvSpPr>
        <p:spPr>
          <a:xfrm>
            <a:off x="135038" y="1426857"/>
            <a:ext cx="9665910" cy="1938952"/>
          </a:xfrm>
          <a:prstGeom prst="rect">
            <a:avLst/>
          </a:prstGeom>
          <a:noFill/>
          <a:ln>
            <a:noFill/>
          </a:ln>
        </p:spPr>
        <p:txBody>
          <a:bodyPr spcFirstLastPara="1" wrap="square" lIns="91425" tIns="45700" rIns="91425" bIns="45700" anchor="t" anchorCtr="0">
            <a:spAutoFit/>
          </a:bodyPr>
          <a:lstStyle/>
          <a:p>
            <a:pPr marL="0" marR="0" lvl="0" indent="0" algn="just" rtl="0">
              <a:lnSpc>
                <a:spcPct val="200000"/>
              </a:lnSpc>
              <a:spcBef>
                <a:spcPts val="0"/>
              </a:spcBef>
              <a:spcAft>
                <a:spcPts val="0"/>
              </a:spcAft>
              <a:buClr>
                <a:srgbClr val="000000"/>
              </a:buClr>
              <a:buSzPts val="2000"/>
              <a:buFont typeface="Arial"/>
              <a:buNone/>
            </a:pPr>
            <a:r>
              <a:rPr lang="en-US" sz="2000" b="1" i="0" u="none" strike="noStrike" cap="none" dirty="0">
                <a:solidFill>
                  <a:srgbClr val="292929"/>
                </a:solidFill>
                <a:latin typeface="Calibri"/>
                <a:ea typeface="Calibri"/>
                <a:cs typeface="Calibri"/>
                <a:sym typeface="Calibri"/>
              </a:rPr>
              <a:t>Avoid coupling sender of request to its receiver by giving more than one object a chance to handle request.  </a:t>
            </a:r>
            <a:endParaRPr b="1" dirty="0"/>
          </a:p>
          <a:p>
            <a:pPr marL="0" marR="0" lvl="0" indent="0" algn="just" rtl="0">
              <a:lnSpc>
                <a:spcPct val="200000"/>
              </a:lnSpc>
              <a:spcBef>
                <a:spcPts val="0"/>
              </a:spcBef>
              <a:spcAft>
                <a:spcPts val="0"/>
              </a:spcAft>
              <a:buClr>
                <a:srgbClr val="000000"/>
              </a:buClr>
              <a:buSzPts val="2000"/>
              <a:buFont typeface="Arial"/>
              <a:buNone/>
            </a:pPr>
            <a:r>
              <a:rPr lang="en-US" sz="2000" b="0" i="0" u="none" strike="noStrike" cap="none" dirty="0">
                <a:solidFill>
                  <a:srgbClr val="292929"/>
                </a:solidFill>
                <a:latin typeface="Calibri"/>
                <a:ea typeface="Calibri"/>
                <a:cs typeface="Calibri"/>
                <a:sym typeface="Calibri"/>
              </a:rPr>
              <a:t>Chain receiving objects and pass request along until an object handles it.</a:t>
            </a:r>
            <a:endParaRP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9"/>
          <p:cNvSpPr txBox="1"/>
          <p:nvPr/>
        </p:nvSpPr>
        <p:spPr>
          <a:xfrm>
            <a:off x="173948" y="899886"/>
            <a:ext cx="63809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Motivation</a:t>
            </a:r>
            <a:endParaRPr sz="1400" b="1" i="0" u="none" strike="noStrike" cap="none">
              <a:solidFill>
                <a:srgbClr val="000000"/>
              </a:solidFill>
              <a:latin typeface="Arial"/>
              <a:ea typeface="Arial"/>
              <a:cs typeface="Arial"/>
              <a:sym typeface="Arial"/>
            </a:endParaRPr>
          </a:p>
        </p:txBody>
      </p:sp>
      <p:sp>
        <p:nvSpPr>
          <p:cNvPr id="150" name="Google Shape;150;p49"/>
          <p:cNvSpPr txBox="1"/>
          <p:nvPr/>
        </p:nvSpPr>
        <p:spPr>
          <a:xfrm>
            <a:off x="173949" y="1476903"/>
            <a:ext cx="9564856" cy="4930581"/>
          </a:xfrm>
          <a:prstGeom prst="rect">
            <a:avLst/>
          </a:prstGeom>
          <a:noFill/>
          <a:ln>
            <a:noFill/>
          </a:ln>
        </p:spPr>
        <p:txBody>
          <a:bodyPr spcFirstLastPara="1" wrap="square" lIns="91425" tIns="45700" rIns="91425" bIns="45700" anchor="t" anchorCtr="0">
            <a:spAutoFit/>
          </a:bodyPr>
          <a:lstStyle/>
          <a:p>
            <a:pPr marL="0" marR="0" lvl="0" indent="0" algn="just" rtl="0">
              <a:lnSpc>
                <a:spcPct val="2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The Chain of Responsibility is intended to </a:t>
            </a:r>
            <a:r>
              <a:rPr lang="en-US" sz="2000" b="0" i="0" u="none" strike="noStrike" cap="none" dirty="0">
                <a:solidFill>
                  <a:srgbClr val="FF0000"/>
                </a:solidFill>
                <a:latin typeface="Calibri"/>
                <a:ea typeface="Calibri"/>
                <a:cs typeface="Calibri"/>
                <a:sym typeface="Calibri"/>
              </a:rPr>
              <a:t>promote loose coupling </a:t>
            </a:r>
            <a:r>
              <a:rPr lang="en-US" sz="2000" b="0" i="0" u="none" strike="noStrike" cap="none" dirty="0">
                <a:solidFill>
                  <a:srgbClr val="000000"/>
                </a:solidFill>
                <a:latin typeface="Calibri"/>
                <a:ea typeface="Calibri"/>
                <a:cs typeface="Calibri"/>
                <a:sym typeface="Calibri"/>
              </a:rPr>
              <a:t>between the sender of a request and its receiver by giving more than one object an opportunity to handle the request. </a:t>
            </a:r>
            <a:endParaRPr dirty="0"/>
          </a:p>
          <a:p>
            <a:pPr marL="0" marR="0" lvl="0" indent="0" algn="just" rtl="0">
              <a:lnSpc>
                <a:spcPct val="2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The receiving objects are chained and pass the request along the chain until one of the objects handles it. </a:t>
            </a:r>
            <a:endParaRPr dirty="0"/>
          </a:p>
          <a:p>
            <a:pPr marL="0" marR="0" lvl="0" indent="0" algn="just" rtl="0">
              <a:lnSpc>
                <a:spcPct val="2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The set of potential request handler objects and the order in which these objects form the chain can be decided dynamically at runtime by the client depending on the current state of the application.</a:t>
            </a:r>
            <a:endParaRPr sz="2000" b="0" i="0" u="none" strike="noStrike" cap="none" dirty="0">
              <a:solidFill>
                <a:srgbClr val="000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2369" y="1738365"/>
            <a:ext cx="10500528" cy="3416320"/>
          </a:xfrm>
          <a:prstGeom prst="rect">
            <a:avLst/>
          </a:prstGeom>
        </p:spPr>
        <p:txBody>
          <a:bodyPr wrap="square">
            <a:spAutoFit/>
          </a:bodyPr>
          <a:lstStyle/>
          <a:p>
            <a:pPr>
              <a:lnSpc>
                <a:spcPct val="200000"/>
              </a:lnSpc>
            </a:pPr>
            <a:r>
              <a:rPr lang="en-US" sz="1800" dirty="0">
                <a:latin typeface="Roboto"/>
              </a:rPr>
              <a:t>We know that we can have multiple catch blocks in a </a:t>
            </a:r>
            <a:r>
              <a:rPr lang="en-US" sz="1800" dirty="0">
                <a:solidFill>
                  <a:srgbClr val="2B8DED"/>
                </a:solidFill>
                <a:latin typeface="Roboto"/>
                <a:hlinkClick r:id="rId2"/>
              </a:rPr>
              <a:t>try-catch block</a:t>
            </a:r>
            <a:r>
              <a:rPr lang="en-US" sz="1800" dirty="0">
                <a:latin typeface="Roboto"/>
              </a:rPr>
              <a:t> code. </a:t>
            </a:r>
            <a:endParaRPr lang="en-US" sz="1800" dirty="0" smtClean="0">
              <a:latin typeface="Roboto"/>
            </a:endParaRPr>
          </a:p>
          <a:p>
            <a:pPr>
              <a:lnSpc>
                <a:spcPct val="200000"/>
              </a:lnSpc>
            </a:pPr>
            <a:r>
              <a:rPr lang="en-US" sz="1800" dirty="0" smtClean="0">
                <a:latin typeface="Roboto"/>
              </a:rPr>
              <a:t>Here </a:t>
            </a:r>
            <a:r>
              <a:rPr lang="en-US" sz="1800" dirty="0">
                <a:latin typeface="Roboto"/>
              </a:rPr>
              <a:t>every catch </a:t>
            </a:r>
            <a:r>
              <a:rPr lang="en-US" sz="1800" dirty="0" smtClean="0">
                <a:latin typeface="Roboto"/>
              </a:rPr>
              <a:t>block(nested) </a:t>
            </a:r>
            <a:r>
              <a:rPr lang="en-US" sz="1800" dirty="0">
                <a:latin typeface="Roboto"/>
              </a:rPr>
              <a:t>is kind of a processor to process that particular exception.</a:t>
            </a:r>
          </a:p>
          <a:p>
            <a:pPr>
              <a:lnSpc>
                <a:spcPct val="200000"/>
              </a:lnSpc>
            </a:pPr>
            <a:r>
              <a:rPr lang="en-US" sz="1800" dirty="0">
                <a:latin typeface="Roboto"/>
              </a:rPr>
              <a:t>So when any exception occurs in the try block, its send to the first catch block to process. If the catch block is not able to process it, it forwards the request to next object in chain </a:t>
            </a:r>
            <a:r>
              <a:rPr lang="en-US" sz="1800" dirty="0" err="1">
                <a:latin typeface="Roboto"/>
              </a:rPr>
              <a:t>i.e</a:t>
            </a:r>
            <a:r>
              <a:rPr lang="en-US" sz="1800" dirty="0">
                <a:latin typeface="Roboto"/>
              </a:rPr>
              <a:t> next catch block. If even the last catch block is not able to process it, the exception is thrown outside of the chain to the calling program.</a:t>
            </a:r>
          </a:p>
        </p:txBody>
      </p:sp>
    </p:spTree>
    <p:extLst>
      <p:ext uri="{BB962C8B-B14F-4D97-AF65-F5344CB8AC3E}">
        <p14:creationId xmlns:p14="http://schemas.microsoft.com/office/powerpoint/2010/main" val="28338415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4460" y="2244663"/>
            <a:ext cx="8902503" cy="2879995"/>
          </a:xfrm>
          <a:prstGeom prst="rect">
            <a:avLst/>
          </a:prstGeom>
        </p:spPr>
      </p:pic>
    </p:spTree>
    <p:extLst>
      <p:ext uri="{BB962C8B-B14F-4D97-AF65-F5344CB8AC3E}">
        <p14:creationId xmlns:p14="http://schemas.microsoft.com/office/powerpoint/2010/main" val="22692158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81704" y="2381195"/>
            <a:ext cx="9256208" cy="2663077"/>
          </a:xfrm>
          <a:prstGeom prst="rect">
            <a:avLst/>
          </a:prstGeom>
        </p:spPr>
      </p:pic>
    </p:spTree>
    <p:extLst>
      <p:ext uri="{BB962C8B-B14F-4D97-AF65-F5344CB8AC3E}">
        <p14:creationId xmlns:p14="http://schemas.microsoft.com/office/powerpoint/2010/main" val="34863825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01101" y="1686729"/>
            <a:ext cx="8416622" cy="4670966"/>
          </a:xfrm>
          <a:prstGeom prst="rect">
            <a:avLst/>
          </a:prstGeom>
        </p:spPr>
      </p:pic>
    </p:spTree>
    <p:extLst>
      <p:ext uri="{BB962C8B-B14F-4D97-AF65-F5344CB8AC3E}">
        <p14:creationId xmlns:p14="http://schemas.microsoft.com/office/powerpoint/2010/main" val="24595978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50"/>
          <p:cNvSpPr txBox="1"/>
          <p:nvPr/>
        </p:nvSpPr>
        <p:spPr>
          <a:xfrm>
            <a:off x="173948" y="811374"/>
            <a:ext cx="63809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Structure</a:t>
            </a:r>
            <a:endParaRPr sz="1400" b="1" i="0" u="none" strike="noStrike" cap="none">
              <a:solidFill>
                <a:srgbClr val="000000"/>
              </a:solidFill>
              <a:latin typeface="Arial"/>
              <a:ea typeface="Arial"/>
              <a:cs typeface="Arial"/>
              <a:sym typeface="Arial"/>
            </a:endParaRPr>
          </a:p>
        </p:txBody>
      </p:sp>
      <p:pic>
        <p:nvPicPr>
          <p:cNvPr id="4" name="Google Shape;156;p50"/>
          <p:cNvPicPr preferRelativeResize="0"/>
          <p:nvPr/>
        </p:nvPicPr>
        <p:blipFill>
          <a:blip r:embed="rId3">
            <a:alphaModFix/>
          </a:blip>
          <a:stretch>
            <a:fillRect/>
          </a:stretch>
        </p:blipFill>
        <p:spPr>
          <a:xfrm>
            <a:off x="152400" y="1435449"/>
            <a:ext cx="6982400" cy="4685550"/>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51"/>
          <p:cNvSpPr txBox="1"/>
          <p:nvPr/>
        </p:nvSpPr>
        <p:spPr>
          <a:xfrm>
            <a:off x="173948" y="828865"/>
            <a:ext cx="63809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Participants</a:t>
            </a:r>
            <a:endParaRPr sz="1400" b="1" i="0" u="none" strike="noStrike" cap="none">
              <a:solidFill>
                <a:srgbClr val="000000"/>
              </a:solidFill>
              <a:latin typeface="Arial"/>
              <a:ea typeface="Arial"/>
              <a:cs typeface="Arial"/>
              <a:sym typeface="Arial"/>
            </a:endParaRPr>
          </a:p>
        </p:txBody>
      </p:sp>
      <p:sp>
        <p:nvSpPr>
          <p:cNvPr id="162" name="Google Shape;162;p51"/>
          <p:cNvSpPr txBox="1"/>
          <p:nvPr/>
        </p:nvSpPr>
        <p:spPr>
          <a:xfrm>
            <a:off x="173947" y="1290489"/>
            <a:ext cx="10390479" cy="486282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000"/>
              <a:buFont typeface="Arial"/>
              <a:buNone/>
            </a:pPr>
            <a:r>
              <a:rPr lang="en-US" sz="2000" b="1" i="0" u="none" strike="noStrike" cap="none" dirty="0">
                <a:solidFill>
                  <a:srgbClr val="000000"/>
                </a:solidFill>
                <a:latin typeface="Calibri"/>
                <a:ea typeface="Calibri"/>
                <a:cs typeface="Calibri"/>
                <a:sym typeface="Calibri"/>
              </a:rPr>
              <a:t>Handler:</a:t>
            </a:r>
            <a:endParaRPr dirty="0"/>
          </a:p>
          <a:p>
            <a:pPr marL="3429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dirty="0">
                <a:solidFill>
                  <a:srgbClr val="000000"/>
                </a:solidFill>
                <a:latin typeface="Calibri"/>
                <a:ea typeface="Calibri"/>
                <a:cs typeface="Calibri"/>
                <a:sym typeface="Calibri"/>
              </a:rPr>
              <a:t>defines an interface for handling the requests </a:t>
            </a:r>
            <a:endParaRPr dirty="0"/>
          </a:p>
          <a:p>
            <a:pPr marL="3429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dirty="0" smtClean="0">
                <a:solidFill>
                  <a:srgbClr val="000000"/>
                </a:solidFill>
                <a:latin typeface="Calibri"/>
                <a:ea typeface="Calibri"/>
                <a:cs typeface="Calibri"/>
                <a:sym typeface="Calibri"/>
              </a:rPr>
              <a:t> </a:t>
            </a:r>
            <a:r>
              <a:rPr lang="en-US" sz="2000" b="0" i="0" u="none" strike="noStrike" cap="none" dirty="0">
                <a:solidFill>
                  <a:srgbClr val="000000"/>
                </a:solidFill>
                <a:latin typeface="Calibri"/>
                <a:ea typeface="Calibri"/>
                <a:cs typeface="Calibri"/>
                <a:sym typeface="Calibri"/>
              </a:rPr>
              <a:t>implements the successor link </a:t>
            </a:r>
            <a:endParaRPr sz="2000" b="0" i="0" u="none" strike="noStrike" cap="none" dirty="0">
              <a:solidFill>
                <a:srgbClr val="000000"/>
              </a:solidFill>
              <a:latin typeface="Calibri"/>
              <a:ea typeface="Calibri"/>
              <a:cs typeface="Calibri"/>
              <a:sym typeface="Calibri"/>
            </a:endParaRPr>
          </a:p>
          <a:p>
            <a:pPr marL="0" marR="0" lvl="0" indent="0" algn="l" rtl="0">
              <a:lnSpc>
                <a:spcPct val="200000"/>
              </a:lnSpc>
              <a:spcBef>
                <a:spcPts val="0"/>
              </a:spcBef>
              <a:spcAft>
                <a:spcPts val="0"/>
              </a:spcAft>
              <a:buClr>
                <a:srgbClr val="000000"/>
              </a:buClr>
              <a:buSzPts val="2000"/>
              <a:buFont typeface="Arial"/>
              <a:buNone/>
            </a:pPr>
            <a:r>
              <a:rPr lang="en-US" sz="2000" b="1" i="0" u="none" strike="noStrike" cap="none" dirty="0" err="1">
                <a:solidFill>
                  <a:srgbClr val="000000"/>
                </a:solidFill>
                <a:latin typeface="Calibri"/>
                <a:ea typeface="Calibri"/>
                <a:cs typeface="Calibri"/>
                <a:sym typeface="Calibri"/>
              </a:rPr>
              <a:t>ConcreteHandler</a:t>
            </a:r>
            <a:r>
              <a:rPr lang="en-US" sz="2000" b="1" i="0" u="none" strike="noStrike" cap="none" dirty="0">
                <a:solidFill>
                  <a:srgbClr val="000000"/>
                </a:solidFill>
                <a:latin typeface="Calibri"/>
                <a:ea typeface="Calibri"/>
                <a:cs typeface="Calibri"/>
                <a:sym typeface="Calibri"/>
              </a:rPr>
              <a:t>:</a:t>
            </a:r>
            <a:endParaRPr dirty="0"/>
          </a:p>
          <a:p>
            <a:pPr marL="3429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dirty="0">
                <a:solidFill>
                  <a:srgbClr val="000000"/>
                </a:solidFill>
                <a:latin typeface="Calibri"/>
                <a:ea typeface="Calibri"/>
                <a:cs typeface="Calibri"/>
                <a:sym typeface="Calibri"/>
              </a:rPr>
              <a:t>handles requests it is responsible for </a:t>
            </a:r>
            <a:endParaRPr dirty="0"/>
          </a:p>
          <a:p>
            <a:pPr marL="3429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dirty="0">
                <a:solidFill>
                  <a:srgbClr val="000000"/>
                </a:solidFill>
                <a:latin typeface="Calibri"/>
                <a:ea typeface="Calibri"/>
                <a:cs typeface="Calibri"/>
                <a:sym typeface="Calibri"/>
              </a:rPr>
              <a:t>can access its successor </a:t>
            </a:r>
            <a:endParaRPr dirty="0"/>
          </a:p>
          <a:p>
            <a:pPr marL="3429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dirty="0">
                <a:solidFill>
                  <a:srgbClr val="000000"/>
                </a:solidFill>
                <a:latin typeface="Calibri"/>
                <a:ea typeface="Calibri"/>
                <a:cs typeface="Calibri"/>
                <a:sym typeface="Calibri"/>
              </a:rPr>
              <a:t>if it does not handle the request, forwards the request to its successor</a:t>
            </a:r>
            <a:endParaRPr dirty="0"/>
          </a:p>
          <a:p>
            <a:pPr marL="0" marR="0" lvl="0" indent="0" algn="l" rtl="0">
              <a:lnSpc>
                <a:spcPct val="200000"/>
              </a:lnSpc>
              <a:spcBef>
                <a:spcPts val="0"/>
              </a:spcBef>
              <a:spcAft>
                <a:spcPts val="0"/>
              </a:spcAft>
              <a:buClr>
                <a:srgbClr val="000000"/>
              </a:buClr>
              <a:buSzPts val="2000"/>
              <a:buFont typeface="Arial"/>
              <a:buNone/>
            </a:pPr>
            <a:r>
              <a:rPr lang="en-US" sz="2000" b="1" i="0" u="none" strike="noStrike" cap="none" dirty="0">
                <a:solidFill>
                  <a:srgbClr val="000000"/>
                </a:solidFill>
                <a:latin typeface="Calibri"/>
                <a:ea typeface="Calibri"/>
                <a:cs typeface="Calibri"/>
                <a:sym typeface="Calibri"/>
              </a:rPr>
              <a:t>Client:</a:t>
            </a:r>
            <a:endParaRPr dirty="0"/>
          </a:p>
          <a:p>
            <a:pPr marL="342900" marR="0" lvl="0" indent="-342900" algn="l" rtl="0">
              <a:lnSpc>
                <a:spcPct val="200000"/>
              </a:lnSpc>
              <a:spcBef>
                <a:spcPts val="0"/>
              </a:spcBef>
              <a:spcAft>
                <a:spcPts val="0"/>
              </a:spcAft>
              <a:buClr>
                <a:srgbClr val="000000"/>
              </a:buClr>
              <a:buSzPts val="2000"/>
              <a:buFont typeface="Noto Sans Symbols"/>
              <a:buChar char="▪"/>
            </a:pPr>
            <a:r>
              <a:rPr lang="en-US" sz="2000" b="0" i="0" u="none" strike="noStrike" cap="none" dirty="0">
                <a:solidFill>
                  <a:srgbClr val="000000"/>
                </a:solidFill>
                <a:latin typeface="Calibri"/>
                <a:ea typeface="Calibri"/>
                <a:cs typeface="Calibri"/>
                <a:sym typeface="Calibri"/>
              </a:rPr>
              <a:t>initiates the request to a </a:t>
            </a:r>
            <a:r>
              <a:rPr lang="en-US" sz="2000" b="0" i="0" u="none" strike="noStrike" cap="none" dirty="0" err="1">
                <a:solidFill>
                  <a:srgbClr val="000000"/>
                </a:solidFill>
                <a:latin typeface="Calibri"/>
                <a:ea typeface="Calibri"/>
                <a:cs typeface="Calibri"/>
                <a:sym typeface="Calibri"/>
              </a:rPr>
              <a:t>ConcreteHandlerobject</a:t>
            </a:r>
            <a:r>
              <a:rPr lang="en-US" sz="2000" b="0" i="0" u="none" strike="noStrike" cap="none" dirty="0">
                <a:solidFill>
                  <a:srgbClr val="000000"/>
                </a:solidFill>
                <a:latin typeface="Calibri"/>
                <a:ea typeface="Calibri"/>
                <a:cs typeface="Calibri"/>
                <a:sym typeface="Calibri"/>
              </a:rPr>
              <a:t> on the chain </a:t>
            </a:r>
            <a:endParaRPr sz="16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5"/>
          <p:cNvSpPr txBox="1"/>
          <p:nvPr/>
        </p:nvSpPr>
        <p:spPr>
          <a:xfrm>
            <a:off x="0" y="719091"/>
            <a:ext cx="4518734" cy="594804"/>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rgbClr val="000000"/>
              </a:buClr>
              <a:buSzPct val="215686"/>
              <a:buFont typeface="Calibri"/>
              <a:buNone/>
            </a:pPr>
            <a:r>
              <a:rPr lang="en-US" sz="2400" b="1" i="0" u="none" strike="noStrike" cap="none">
                <a:solidFill>
                  <a:srgbClr val="C55A11"/>
                </a:solidFill>
                <a:latin typeface="Calibri"/>
                <a:ea typeface="Calibri"/>
                <a:cs typeface="Calibri"/>
                <a:sym typeface="Calibri"/>
              </a:rPr>
              <a:t>  Implementation – Example Scenario </a:t>
            </a:r>
            <a:r>
              <a:rPr lang="en-US" sz="2400" b="1" i="0" u="none" strike="noStrike" cap="none" smtClean="0">
                <a:solidFill>
                  <a:srgbClr val="C55A11"/>
                </a:solidFill>
                <a:latin typeface="Calibri"/>
                <a:ea typeface="Calibri"/>
                <a:cs typeface="Calibri"/>
                <a:sym typeface="Calibri"/>
              </a:rPr>
              <a:t>1</a:t>
            </a:r>
            <a:endParaRPr sz="4400" b="0" i="0" u="none" strike="noStrike" cap="none">
              <a:solidFill>
                <a:schemeClr val="dk1"/>
              </a:solidFill>
              <a:latin typeface="Calibri"/>
              <a:ea typeface="Calibri"/>
              <a:cs typeface="Calibri"/>
              <a:sym typeface="Calibri"/>
            </a:endParaRPr>
          </a:p>
        </p:txBody>
      </p:sp>
      <p:sp>
        <p:nvSpPr>
          <p:cNvPr id="191" name="Google Shape;191;p5"/>
          <p:cNvSpPr txBox="1"/>
          <p:nvPr/>
        </p:nvSpPr>
        <p:spPr>
          <a:xfrm>
            <a:off x="124287" y="1382286"/>
            <a:ext cx="9188390" cy="409342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1" i="0" u="none" strike="noStrike" cap="none" dirty="0">
                <a:solidFill>
                  <a:srgbClr val="000000"/>
                </a:solidFill>
                <a:latin typeface="Calibri"/>
                <a:ea typeface="Calibri"/>
                <a:cs typeface="Calibri"/>
                <a:sym typeface="Calibri"/>
              </a:rPr>
              <a:t>Let us consider the transaction approval process in a company. Suppose we want to approve the transactions based on certain conditions? </a:t>
            </a:r>
            <a:endParaRPr b="1" dirty="0"/>
          </a:p>
          <a:p>
            <a:pPr marL="0" marR="0" lvl="0" indent="0" algn="just" rtl="0">
              <a:lnSpc>
                <a:spcPct val="15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For instance, in the transaction approval application user keys in transaction details into the application and this transaction need to be processed by any one of the higher level employee in the company. </a:t>
            </a:r>
            <a:endParaRPr dirty="0"/>
          </a:p>
          <a:p>
            <a:pPr marL="0" marR="0" lvl="0" indent="0" algn="just" rtl="0">
              <a:lnSpc>
                <a:spcPct val="15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All transactions lesser than 1,00,000 amount can be approved by manager, lesser than 10,00,000 can be approved by vice president and lesser than 25,00,000 can be approved by CEO.</a:t>
            </a:r>
            <a:endParaRPr dirty="0"/>
          </a:p>
          <a:p>
            <a:pPr marL="0" marR="0" lvl="0" indent="0" algn="just" rtl="0">
              <a:lnSpc>
                <a:spcPct val="100000"/>
              </a:lnSpc>
              <a:spcBef>
                <a:spcPts val="0"/>
              </a:spcBef>
              <a:spcAft>
                <a:spcPts val="0"/>
              </a:spcAft>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6"/>
          <p:cNvSpPr txBox="1"/>
          <p:nvPr/>
        </p:nvSpPr>
        <p:spPr>
          <a:xfrm>
            <a:off x="124287" y="1402312"/>
            <a:ext cx="9223900"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The transaction approval behavior can be implemented with a simple if else conditions, by checking if amount is less than 1,00,000 or else if amount is less than 10,00,000 and so on. But this approach is static, means we </a:t>
            </a:r>
            <a:r>
              <a:rPr lang="en-US" sz="2000" b="0" i="0" u="none" strike="noStrike" cap="none" dirty="0" smtClean="0">
                <a:solidFill>
                  <a:srgbClr val="000000"/>
                </a:solidFill>
                <a:latin typeface="Calibri"/>
                <a:ea typeface="Calibri"/>
                <a:cs typeface="Calibri"/>
                <a:sym typeface="Calibri"/>
              </a:rPr>
              <a:t>cannot </a:t>
            </a:r>
            <a:r>
              <a:rPr lang="en-US" sz="2000" b="0" i="0" u="none" strike="noStrike" cap="none" dirty="0">
                <a:solidFill>
                  <a:srgbClr val="000000"/>
                </a:solidFill>
                <a:latin typeface="Calibri"/>
                <a:ea typeface="Calibri"/>
                <a:cs typeface="Calibri"/>
                <a:sym typeface="Calibri"/>
              </a:rPr>
              <a:t>change these conditions dynamically. Chain of responsibility design pattern can be used in this situation.</a:t>
            </a:r>
            <a:endParaRPr dirty="0"/>
          </a:p>
          <a:p>
            <a:pPr marL="0" marR="0" lvl="0" indent="0" algn="just" rtl="0">
              <a:lnSpc>
                <a:spcPct val="150000"/>
              </a:lnSpc>
              <a:spcBef>
                <a:spcPts val="0"/>
              </a:spcBef>
              <a:spcAft>
                <a:spcPts val="0"/>
              </a:spcAft>
              <a:buNone/>
            </a:pPr>
            <a:endParaRPr sz="2000" b="0" i="0" u="none" strike="noStrike" cap="none" dirty="0">
              <a:solidFill>
                <a:srgbClr val="000000"/>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In the transaction processing application, </a:t>
            </a:r>
            <a:r>
              <a:rPr lang="en-US" sz="2000" b="0" i="0" u="none" strike="noStrike" cap="none" dirty="0">
                <a:solidFill>
                  <a:srgbClr val="FF0000"/>
                </a:solidFill>
                <a:latin typeface="Calibri"/>
                <a:ea typeface="Calibri"/>
                <a:cs typeface="Calibri"/>
                <a:sym typeface="Calibri"/>
              </a:rPr>
              <a:t>approval process acts like a chain of responsibilities</a:t>
            </a:r>
            <a:r>
              <a:rPr lang="en-US" sz="2000" b="0" i="0" u="none" strike="noStrike" cap="none" dirty="0">
                <a:solidFill>
                  <a:srgbClr val="000000"/>
                </a:solidFill>
                <a:latin typeface="Calibri"/>
                <a:ea typeface="Calibri"/>
                <a:cs typeface="Calibri"/>
                <a:sym typeface="Calibri"/>
              </a:rPr>
              <a:t>. </a:t>
            </a:r>
            <a:endParaRPr dirty="0"/>
          </a:p>
          <a:p>
            <a:pPr marL="0" marR="0" lvl="0" indent="0" algn="just" rtl="0">
              <a:lnSpc>
                <a:spcPct val="15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First, manager acts on the transaction, if the amount is higher than his approval limit then the transaction is transferred to vice president and so on.</a:t>
            </a:r>
            <a:endParaRP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7"/>
          <p:cNvSpPr txBox="1"/>
          <p:nvPr/>
        </p:nvSpPr>
        <p:spPr>
          <a:xfrm>
            <a:off x="150921" y="1420068"/>
            <a:ext cx="9836458" cy="4001095"/>
          </a:xfrm>
          <a:prstGeom prst="rect">
            <a:avLst/>
          </a:prstGeom>
          <a:noFill/>
          <a:ln>
            <a:noFill/>
          </a:ln>
        </p:spPr>
        <p:txBody>
          <a:bodyPr spcFirstLastPara="1" wrap="square" lIns="91425" tIns="45700" rIns="91425" bIns="45700" anchor="t" anchorCtr="0">
            <a:spAutoFit/>
          </a:bodyPr>
          <a:lstStyle/>
          <a:p>
            <a:pPr marL="0" marR="0" lvl="0" indent="0" algn="just" rtl="0">
              <a:lnSpc>
                <a:spcPct val="200000"/>
              </a:lnSpc>
              <a:spcBef>
                <a:spcPts val="0"/>
              </a:spcBef>
              <a:spcAft>
                <a:spcPts val="0"/>
              </a:spcAft>
              <a:buNone/>
            </a:pPr>
            <a:r>
              <a:rPr lang="en-US" sz="2000" b="0" i="0" u="none" strike="noStrike" cap="none">
                <a:solidFill>
                  <a:srgbClr val="000000"/>
                </a:solidFill>
                <a:latin typeface="Calibri"/>
                <a:ea typeface="Calibri"/>
                <a:cs typeface="Calibri"/>
                <a:sym typeface="Calibri"/>
              </a:rPr>
              <a:t>We need to design processing and command objects. Based on the above example, processing objects are employees like Manager, Vice President because they process the transaction by approving and command object is the transaction. Once processing objects are created then we need to chain them together like </a:t>
            </a:r>
            <a:r>
              <a:rPr lang="en-US" sz="2000" b="0" i="0" u="none" strike="noStrike" cap="none">
                <a:solidFill>
                  <a:srgbClr val="FF0000"/>
                </a:solidFill>
                <a:latin typeface="Calibri"/>
                <a:ea typeface="Calibri"/>
                <a:cs typeface="Calibri"/>
                <a:sym typeface="Calibri"/>
              </a:rPr>
              <a:t>manager -&gt; vice president -&gt; CEO </a:t>
            </a:r>
            <a:r>
              <a:rPr lang="en-US" sz="2000" b="0" i="0" u="none" strike="noStrike" cap="none">
                <a:solidFill>
                  <a:srgbClr val="000000"/>
                </a:solidFill>
                <a:latin typeface="Calibri"/>
                <a:ea typeface="Calibri"/>
                <a:cs typeface="Calibri"/>
                <a:sym typeface="Calibri"/>
              </a:rPr>
              <a:t>and pass the transaction at the beginning of the chain. Transaction continues to flow in the chain until it reaches the employee, who’s limit allows to approve it.</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 name="Rectangle 1"/>
          <p:cNvSpPr/>
          <p:nvPr/>
        </p:nvSpPr>
        <p:spPr>
          <a:xfrm>
            <a:off x="5978820" y="3275112"/>
            <a:ext cx="234360" cy="307777"/>
          </a:xfrm>
          <a:prstGeom prst="rect">
            <a:avLst/>
          </a:prstGeom>
        </p:spPr>
        <p:txBody>
          <a:bodyPr wrap="none">
            <a:spAutoFit/>
          </a:bodyPr>
          <a:lstStyle/>
          <a:p>
            <a:r>
              <a:rPr lang="en-IN" dirty="0"/>
              <a:t> </a:t>
            </a:r>
          </a:p>
        </p:txBody>
      </p:sp>
      <p:pic>
        <p:nvPicPr>
          <p:cNvPr id="4" name="Google Shape;207;g124442db786_0_1"/>
          <p:cNvPicPr preferRelativeResize="0"/>
          <p:nvPr/>
        </p:nvPicPr>
        <p:blipFill>
          <a:blip r:embed="rId3">
            <a:alphaModFix/>
          </a:blip>
          <a:stretch>
            <a:fillRect/>
          </a:stretch>
        </p:blipFill>
        <p:spPr>
          <a:xfrm>
            <a:off x="138000" y="1628900"/>
            <a:ext cx="10409476" cy="5068599"/>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8"/>
          <p:cNvSpPr txBox="1"/>
          <p:nvPr/>
        </p:nvSpPr>
        <p:spPr>
          <a:xfrm>
            <a:off x="110970" y="1413020"/>
            <a:ext cx="10107300" cy="360094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First create an abstract class for processing the transactions. </a:t>
            </a:r>
            <a:endParaRPr dirty="0"/>
          </a:p>
          <a:p>
            <a:pPr marL="0" marR="0" lvl="0" indent="0" algn="l" rtl="0">
              <a:lnSpc>
                <a:spcPct val="2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If the transaction </a:t>
            </a:r>
            <a:r>
              <a:rPr lang="en-US" sz="2000" b="0" i="0" u="none" strike="noStrike" cap="none" dirty="0" smtClean="0">
                <a:solidFill>
                  <a:srgbClr val="000000"/>
                </a:solidFill>
                <a:latin typeface="Calibri"/>
                <a:ea typeface="Calibri"/>
                <a:cs typeface="Calibri"/>
                <a:sym typeface="Calibri"/>
              </a:rPr>
              <a:t>can </a:t>
            </a:r>
            <a:r>
              <a:rPr lang="en-US" sz="2000" b="0" i="0" u="none" strike="noStrike" cap="none" dirty="0">
                <a:solidFill>
                  <a:srgbClr val="000000"/>
                </a:solidFill>
                <a:latin typeface="Calibri"/>
                <a:ea typeface="Calibri"/>
                <a:cs typeface="Calibri"/>
                <a:sym typeface="Calibri"/>
              </a:rPr>
              <a:t>be processed then it </a:t>
            </a:r>
            <a:r>
              <a:rPr lang="en-US" sz="2000" b="0" i="0" u="none" strike="noStrike" cap="none" dirty="0" smtClean="0">
                <a:solidFill>
                  <a:srgbClr val="000000"/>
                </a:solidFill>
                <a:latin typeface="Calibri"/>
                <a:ea typeface="Calibri"/>
                <a:cs typeface="Calibri"/>
                <a:sym typeface="Calibri"/>
              </a:rPr>
              <a:t>should.</a:t>
            </a:r>
          </a:p>
          <a:p>
            <a:pPr marL="0" marR="0" lvl="0" indent="0" algn="l" rtl="0">
              <a:lnSpc>
                <a:spcPct val="200000"/>
              </a:lnSpc>
              <a:spcBef>
                <a:spcPts val="0"/>
              </a:spcBef>
              <a:spcAft>
                <a:spcPts val="0"/>
              </a:spcAft>
              <a:buNone/>
            </a:pPr>
            <a:r>
              <a:rPr lang="en-US" sz="2000" b="0" i="0" u="none" strike="noStrike" cap="none" dirty="0" smtClean="0">
                <a:solidFill>
                  <a:srgbClr val="000000"/>
                </a:solidFill>
                <a:latin typeface="Calibri"/>
                <a:ea typeface="Calibri"/>
                <a:cs typeface="Calibri"/>
                <a:sym typeface="Calibri"/>
              </a:rPr>
              <a:t>If </a:t>
            </a:r>
            <a:r>
              <a:rPr lang="en-US" sz="2000" b="0" i="0" u="none" strike="noStrike" cap="none" dirty="0">
                <a:solidFill>
                  <a:srgbClr val="000000"/>
                </a:solidFill>
                <a:latin typeface="Calibri"/>
                <a:ea typeface="Calibri"/>
                <a:cs typeface="Calibri"/>
                <a:sym typeface="Calibri"/>
              </a:rPr>
              <a:t>transaction is with in the limit then it prints the message. </a:t>
            </a:r>
            <a:endParaRPr dirty="0"/>
          </a:p>
          <a:p>
            <a:pPr marL="0" marR="0" lvl="0" indent="0" algn="l" rtl="0">
              <a:lnSpc>
                <a:spcPct val="2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If it is out of range then passes it to next processor by calling ‘approve’ method, </a:t>
            </a:r>
            <a:endParaRPr dirty="0"/>
          </a:p>
          <a:p>
            <a:pPr marL="0" marR="0" lvl="0" indent="0" algn="l" rtl="0">
              <a:lnSpc>
                <a:spcPct val="2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before calling approve check for null  if processor is last in the chain.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9"/>
          <p:cNvSpPr txBox="1"/>
          <p:nvPr/>
        </p:nvSpPr>
        <p:spPr>
          <a:xfrm>
            <a:off x="115410" y="1411550"/>
            <a:ext cx="11674200" cy="4833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7F0055"/>
                </a:solidFill>
                <a:latin typeface="Consolas"/>
                <a:ea typeface="Consolas"/>
                <a:cs typeface="Consolas"/>
                <a:sym typeface="Consolas"/>
              </a:rPr>
              <a:t>abstract</a:t>
            </a:r>
            <a:r>
              <a:rPr lang="en-US" sz="1400" b="1"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class</a:t>
            </a:r>
            <a:r>
              <a:rPr lang="en-US" sz="1400" b="1" i="0" u="none" strike="noStrike" cap="none">
                <a:solidFill>
                  <a:srgbClr val="000000"/>
                </a:solidFill>
                <a:latin typeface="Consolas"/>
                <a:ea typeface="Consolas"/>
                <a:cs typeface="Consolas"/>
                <a:sym typeface="Consolas"/>
              </a:rPr>
              <a:t> TransactionProcessor{</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private</a:t>
            </a:r>
            <a:r>
              <a:rPr lang="en-US" sz="1400" b="1" i="0" u="none" strike="noStrike" cap="none">
                <a:solidFill>
                  <a:srgbClr val="000000"/>
                </a:solidFill>
                <a:latin typeface="Consolas"/>
                <a:ea typeface="Consolas"/>
                <a:cs typeface="Consolas"/>
                <a:sym typeface="Consolas"/>
              </a:rPr>
              <a:t> TransactionProcessor </a:t>
            </a:r>
            <a:r>
              <a:rPr lang="en-US" sz="1400" b="1" i="0" u="none" strike="noStrike" cap="none">
                <a:solidFill>
                  <a:srgbClr val="0000C0"/>
                </a:solidFill>
                <a:latin typeface="Consolas"/>
                <a:ea typeface="Consolas"/>
                <a:cs typeface="Consolas"/>
                <a:sym typeface="Consolas"/>
              </a:rPr>
              <a:t>transactionProcessor</a:t>
            </a:r>
            <a:r>
              <a:rPr lang="en-US" sz="14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abstract</a:t>
            </a:r>
            <a:r>
              <a:rPr lang="en-US" sz="1400" b="1"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protected</a:t>
            </a:r>
            <a:r>
              <a:rPr lang="en-US" sz="1400" b="1" i="0" u="none" strike="noStrike" cap="none">
                <a:solidFill>
                  <a:srgbClr val="000000"/>
                </a:solidFill>
                <a:latin typeface="Consolas"/>
                <a:ea typeface="Consolas"/>
                <a:cs typeface="Consolas"/>
                <a:sym typeface="Consolas"/>
              </a:rPr>
              <a:t> Double getApprovalLimit();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abstract</a:t>
            </a:r>
            <a:r>
              <a:rPr lang="en-US" sz="1400" b="1"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protected</a:t>
            </a:r>
            <a:r>
              <a:rPr lang="en-US" sz="1400" b="1" i="0" u="none" strike="noStrike" cap="none">
                <a:solidFill>
                  <a:srgbClr val="000000"/>
                </a:solidFill>
                <a:latin typeface="Consolas"/>
                <a:ea typeface="Consolas"/>
                <a:cs typeface="Consolas"/>
                <a:sym typeface="Consolas"/>
              </a:rPr>
              <a:t> String getDesignation();</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public</a:t>
            </a:r>
            <a:r>
              <a:rPr lang="en-US" sz="1400" b="1"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void</a:t>
            </a:r>
            <a:r>
              <a:rPr lang="en-US" sz="1400" b="1" i="0" u="none" strike="noStrike" cap="none">
                <a:solidFill>
                  <a:srgbClr val="000000"/>
                </a:solidFill>
                <a:latin typeface="Consolas"/>
                <a:ea typeface="Consolas"/>
                <a:cs typeface="Consolas"/>
                <a:sym typeface="Consolas"/>
              </a:rPr>
              <a:t> setSuccessor(TransactionProcessor </a:t>
            </a:r>
            <a:r>
              <a:rPr lang="en-US" sz="1400" b="1" i="0" u="none" strike="noStrike" cap="none">
                <a:solidFill>
                  <a:srgbClr val="6A3E3E"/>
                </a:solidFill>
                <a:latin typeface="Consolas"/>
                <a:ea typeface="Consolas"/>
                <a:cs typeface="Consolas"/>
                <a:sym typeface="Consolas"/>
              </a:rPr>
              <a:t>transactionProcessor</a:t>
            </a:r>
            <a:r>
              <a:rPr lang="en-US" sz="1400" b="1" i="0" u="none" strike="noStrike" cap="none">
                <a:solidFill>
                  <a:srgbClr val="000000"/>
                </a:solidFill>
                <a:latin typeface="Consolas"/>
                <a:ea typeface="Consolas"/>
                <a:cs typeface="Consolas"/>
                <a:sym typeface="Consolas"/>
              </a:rPr>
              <a:t>) {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this</a:t>
            </a:r>
            <a:r>
              <a:rPr lang="en-US" sz="1400" b="1" i="0" u="none" strike="noStrike" cap="none">
                <a:solidFill>
                  <a:srgbClr val="000000"/>
                </a:solidFill>
                <a:latin typeface="Consolas"/>
                <a:ea typeface="Consolas"/>
                <a:cs typeface="Consolas"/>
                <a:sym typeface="Consolas"/>
              </a:rPr>
              <a:t>.</a:t>
            </a:r>
            <a:r>
              <a:rPr lang="en-US" sz="1400" b="1" i="0" u="none" strike="noStrike" cap="none">
                <a:solidFill>
                  <a:srgbClr val="0000C0"/>
                </a:solidFill>
                <a:latin typeface="Consolas"/>
                <a:ea typeface="Consolas"/>
                <a:cs typeface="Consolas"/>
                <a:sym typeface="Consolas"/>
              </a:rPr>
              <a:t>transactionProcessor</a:t>
            </a:r>
            <a:r>
              <a:rPr lang="en-US" sz="1400" b="1" i="0" u="none" strike="noStrike" cap="none">
                <a:solidFill>
                  <a:srgbClr val="000000"/>
                </a:solidFill>
                <a:latin typeface="Consolas"/>
                <a:ea typeface="Consolas"/>
                <a:cs typeface="Consolas"/>
                <a:sym typeface="Consolas"/>
              </a:rPr>
              <a:t> = </a:t>
            </a:r>
            <a:r>
              <a:rPr lang="en-US" sz="1400" b="1" i="0" u="none" strike="noStrike" cap="none">
                <a:solidFill>
                  <a:srgbClr val="6A3E3E"/>
                </a:solidFill>
                <a:latin typeface="Consolas"/>
                <a:ea typeface="Consolas"/>
                <a:cs typeface="Consolas"/>
                <a:sym typeface="Consolas"/>
              </a:rPr>
              <a:t>transactionProcessor</a:t>
            </a:r>
            <a:r>
              <a:rPr lang="en-US" sz="14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public</a:t>
            </a:r>
            <a:r>
              <a:rPr lang="en-US" sz="1400" b="1"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void</a:t>
            </a:r>
            <a:r>
              <a:rPr lang="en-US" sz="1400" b="1" i="0" u="none" strike="noStrike" cap="none">
                <a:solidFill>
                  <a:srgbClr val="000000"/>
                </a:solidFill>
                <a:latin typeface="Consolas"/>
                <a:ea typeface="Consolas"/>
                <a:cs typeface="Consolas"/>
                <a:sym typeface="Consolas"/>
              </a:rPr>
              <a:t> approve(Transaction </a:t>
            </a:r>
            <a:r>
              <a:rPr lang="en-US" sz="1400" b="1" i="0" u="none" strike="noStrike" cap="none">
                <a:solidFill>
                  <a:srgbClr val="6A3E3E"/>
                </a:solidFill>
                <a:latin typeface="Consolas"/>
                <a:ea typeface="Consolas"/>
                <a:cs typeface="Consolas"/>
                <a:sym typeface="Consolas"/>
              </a:rPr>
              <a:t>transaction</a:t>
            </a:r>
            <a:r>
              <a:rPr lang="en-US" sz="1400" b="1"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if</a:t>
            </a:r>
            <a:r>
              <a:rPr lang="en-US" sz="1400" b="1" i="0" u="none" strike="noStrike" cap="none">
                <a:solidFill>
                  <a:srgbClr val="000000"/>
                </a:solidFill>
                <a:latin typeface="Consolas"/>
                <a:ea typeface="Consolas"/>
                <a:cs typeface="Consolas"/>
                <a:sym typeface="Consolas"/>
              </a:rPr>
              <a:t>(</a:t>
            </a:r>
            <a:r>
              <a:rPr lang="en-US" sz="1400" b="1" i="0" u="none" strike="noStrike" cap="none">
                <a:solidFill>
                  <a:srgbClr val="6A3E3E"/>
                </a:solidFill>
                <a:latin typeface="Consolas"/>
                <a:ea typeface="Consolas"/>
                <a:cs typeface="Consolas"/>
                <a:sym typeface="Consolas"/>
              </a:rPr>
              <a:t>transaction</a:t>
            </a:r>
            <a:r>
              <a:rPr lang="en-US" sz="1400" b="1" i="0" u="none" strike="noStrike" cap="none">
                <a:solidFill>
                  <a:srgbClr val="000000"/>
                </a:solidFill>
                <a:latin typeface="Consolas"/>
                <a:ea typeface="Consolas"/>
                <a:cs typeface="Consolas"/>
                <a:sym typeface="Consolas"/>
              </a:rPr>
              <a:t>.getAmount() &lt;=0.0 )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System.</a:t>
            </a:r>
            <a:r>
              <a:rPr lang="en-US" sz="1400" b="1" i="1" u="none" strike="noStrike" cap="none">
                <a:solidFill>
                  <a:srgbClr val="0000C0"/>
                </a:solidFill>
                <a:latin typeface="Consolas"/>
                <a:ea typeface="Consolas"/>
                <a:cs typeface="Consolas"/>
                <a:sym typeface="Consolas"/>
              </a:rPr>
              <a:t>out</a:t>
            </a:r>
            <a:r>
              <a:rPr lang="en-US" sz="1400" b="1" i="1" u="none" strike="noStrike" cap="none">
                <a:solidFill>
                  <a:srgbClr val="000000"/>
                </a:solidFill>
                <a:latin typeface="Consolas"/>
                <a:ea typeface="Consolas"/>
                <a:cs typeface="Consolas"/>
                <a:sym typeface="Consolas"/>
              </a:rPr>
              <a:t>.println(</a:t>
            </a:r>
            <a:r>
              <a:rPr lang="en-US" sz="1400" b="1" i="1" u="none" strike="noStrike" cap="none">
                <a:solidFill>
                  <a:srgbClr val="2A00FF"/>
                </a:solidFill>
                <a:latin typeface="Consolas"/>
                <a:ea typeface="Consolas"/>
                <a:cs typeface="Consolas"/>
                <a:sym typeface="Consolas"/>
              </a:rPr>
              <a:t>"Invalid Amount. Amount should be &gt; 0"</a:t>
            </a:r>
            <a:r>
              <a:rPr lang="en-US" sz="1400" b="1" i="1"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return</a:t>
            </a:r>
            <a:r>
              <a:rPr lang="en-US" sz="1400" b="1" i="0" u="none" strike="noStrike" cap="none">
                <a:solidFill>
                  <a:srgbClr val="000000"/>
                </a:solidFill>
                <a:latin typeface="Consolas"/>
                <a:ea typeface="Consolas"/>
                <a:cs typeface="Consolas"/>
                <a:sym typeface="Consolas"/>
              </a:rPr>
              <a:t>;</a:t>
            </a:r>
            <a:r>
              <a:rPr lang="en-US" sz="1400" b="0"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if</a:t>
            </a:r>
            <a:r>
              <a:rPr lang="en-US" sz="1400" b="1" i="0" u="none" strike="noStrike" cap="none">
                <a:solidFill>
                  <a:srgbClr val="000000"/>
                </a:solidFill>
                <a:latin typeface="Consolas"/>
                <a:ea typeface="Consolas"/>
                <a:cs typeface="Consolas"/>
                <a:sym typeface="Consolas"/>
              </a:rPr>
              <a:t>(</a:t>
            </a:r>
            <a:r>
              <a:rPr lang="en-US" sz="1400" b="1" i="0" u="none" strike="noStrike" cap="none">
                <a:solidFill>
                  <a:srgbClr val="6A3E3E"/>
                </a:solidFill>
                <a:latin typeface="Consolas"/>
                <a:ea typeface="Consolas"/>
                <a:cs typeface="Consolas"/>
                <a:sym typeface="Consolas"/>
              </a:rPr>
              <a:t>transaction</a:t>
            </a:r>
            <a:r>
              <a:rPr lang="en-US" sz="1400" b="1" i="0" u="none" strike="noStrike" cap="none">
                <a:solidFill>
                  <a:srgbClr val="000000"/>
                </a:solidFill>
                <a:latin typeface="Consolas"/>
                <a:ea typeface="Consolas"/>
                <a:cs typeface="Consolas"/>
                <a:sym typeface="Consolas"/>
              </a:rPr>
              <a:t>.getAmount() &lt;= getApprovalLimit())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System.</a:t>
            </a:r>
            <a:r>
              <a:rPr lang="en-US" sz="1400" b="1" i="1" u="none" strike="noStrike" cap="none">
                <a:solidFill>
                  <a:srgbClr val="0000C0"/>
                </a:solidFill>
                <a:latin typeface="Consolas"/>
                <a:ea typeface="Consolas"/>
                <a:cs typeface="Consolas"/>
                <a:sym typeface="Consolas"/>
              </a:rPr>
              <a:t>out</a:t>
            </a:r>
            <a:r>
              <a:rPr lang="en-US" sz="1400" b="1" i="1" u="none" strike="noStrike" cap="none">
                <a:solidFill>
                  <a:srgbClr val="000000"/>
                </a:solidFill>
                <a:latin typeface="Consolas"/>
                <a:ea typeface="Consolas"/>
                <a:cs typeface="Consolas"/>
                <a:sym typeface="Consolas"/>
              </a:rPr>
              <a:t>.println(</a:t>
            </a:r>
            <a:r>
              <a:rPr lang="en-US" sz="1400" b="1" i="1" u="none" strike="noStrike" cap="none">
                <a:solidFill>
                  <a:srgbClr val="2A00FF"/>
                </a:solidFill>
                <a:latin typeface="Consolas"/>
                <a:ea typeface="Consolas"/>
                <a:cs typeface="Consolas"/>
                <a:sym typeface="Consolas"/>
              </a:rPr>
              <a:t>"Transaction for amount "</a:t>
            </a:r>
            <a:r>
              <a:rPr lang="en-US" sz="1400" b="1" i="1" u="none" strike="noStrike" cap="none">
                <a:solidFill>
                  <a:srgbClr val="000000"/>
                </a:solidFill>
                <a:latin typeface="Consolas"/>
                <a:ea typeface="Consolas"/>
                <a:cs typeface="Consolas"/>
                <a:sym typeface="Consolas"/>
              </a:rPr>
              <a:t>+</a:t>
            </a:r>
            <a:r>
              <a:rPr lang="en-US" sz="1400" b="1" i="1" u="none" strike="noStrike" cap="none">
                <a:solidFill>
                  <a:srgbClr val="6A3E3E"/>
                </a:solidFill>
                <a:latin typeface="Consolas"/>
                <a:ea typeface="Consolas"/>
                <a:cs typeface="Consolas"/>
                <a:sym typeface="Consolas"/>
              </a:rPr>
              <a:t>transaction</a:t>
            </a:r>
            <a:r>
              <a:rPr lang="en-US" sz="1400" b="1" i="1" u="none" strike="noStrike" cap="none">
                <a:solidFill>
                  <a:srgbClr val="000000"/>
                </a:solidFill>
                <a:latin typeface="Consolas"/>
                <a:ea typeface="Consolas"/>
                <a:cs typeface="Consolas"/>
                <a:sym typeface="Consolas"/>
              </a:rPr>
              <a:t>.getAmount()+ </a:t>
            </a:r>
            <a:r>
              <a:rPr lang="en-US" sz="1400" b="1" i="1" u="none" strike="noStrike" cap="none">
                <a:solidFill>
                  <a:srgbClr val="2A00FF"/>
                </a:solidFill>
                <a:latin typeface="Consolas"/>
                <a:ea typeface="Consolas"/>
                <a:cs typeface="Consolas"/>
                <a:sym typeface="Consolas"/>
              </a:rPr>
              <a:t>" approved by "</a:t>
            </a:r>
            <a:r>
              <a:rPr lang="en-US" sz="1400" b="1" i="1" u="none" strike="noStrike" cap="none">
                <a:solidFill>
                  <a:srgbClr val="000000"/>
                </a:solidFill>
                <a:latin typeface="Consolas"/>
                <a:ea typeface="Consolas"/>
                <a:cs typeface="Consolas"/>
                <a:sym typeface="Consolas"/>
              </a:rPr>
              <a:t>+getDesignation());</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else</a:t>
            </a:r>
            <a:r>
              <a:rPr lang="en-US" sz="1400" b="1"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if</a:t>
            </a:r>
            <a:r>
              <a:rPr lang="en-US" sz="1400" b="1" i="0" u="none" strike="noStrike" cap="none">
                <a:solidFill>
                  <a:srgbClr val="000000"/>
                </a:solidFill>
                <a:latin typeface="Consolas"/>
                <a:ea typeface="Consolas"/>
                <a:cs typeface="Consolas"/>
                <a:sym typeface="Consolas"/>
              </a:rPr>
              <a:t>(</a:t>
            </a:r>
            <a:r>
              <a:rPr lang="en-US" sz="1400" b="1" i="0" u="none" strike="noStrike" cap="none">
                <a:solidFill>
                  <a:srgbClr val="0000C0"/>
                </a:solidFill>
                <a:latin typeface="Consolas"/>
                <a:ea typeface="Consolas"/>
                <a:cs typeface="Consolas"/>
                <a:sym typeface="Consolas"/>
              </a:rPr>
              <a:t>transactionProcessor</a:t>
            </a:r>
            <a:r>
              <a:rPr lang="en-US" sz="1400" b="1" i="0" u="none" strike="noStrike" cap="none">
                <a:solidFill>
                  <a:srgbClr val="000000"/>
                </a:solidFill>
                <a:latin typeface="Consolas"/>
                <a:ea typeface="Consolas"/>
                <a:cs typeface="Consolas"/>
                <a:sym typeface="Consolas"/>
              </a:rPr>
              <a:t> == </a:t>
            </a:r>
            <a:r>
              <a:rPr lang="en-US" sz="1400" b="1" i="0" u="none" strike="noStrike" cap="none">
                <a:solidFill>
                  <a:srgbClr val="7F0055"/>
                </a:solidFill>
                <a:latin typeface="Consolas"/>
                <a:ea typeface="Consolas"/>
                <a:cs typeface="Consolas"/>
                <a:sym typeface="Consolas"/>
              </a:rPr>
              <a:t>null</a:t>
            </a:r>
            <a:r>
              <a:rPr lang="en-US" sz="14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System.</a:t>
            </a:r>
            <a:r>
              <a:rPr lang="en-US" sz="1400" b="1" i="1" u="none" strike="noStrike" cap="none">
                <a:solidFill>
                  <a:srgbClr val="0000C0"/>
                </a:solidFill>
                <a:latin typeface="Consolas"/>
                <a:ea typeface="Consolas"/>
                <a:cs typeface="Consolas"/>
                <a:sym typeface="Consolas"/>
              </a:rPr>
              <a:t>out</a:t>
            </a:r>
            <a:r>
              <a:rPr lang="en-US" sz="1400" b="1" i="1" u="none" strike="noStrike" cap="none">
                <a:solidFill>
                  <a:srgbClr val="000000"/>
                </a:solidFill>
                <a:latin typeface="Consolas"/>
                <a:ea typeface="Consolas"/>
                <a:cs typeface="Consolas"/>
                <a:sym typeface="Consolas"/>
              </a:rPr>
              <a:t>.println(</a:t>
            </a:r>
            <a:r>
              <a:rPr lang="en-US" sz="1400" b="1" i="1" u="none" strike="noStrike" cap="none">
                <a:solidFill>
                  <a:srgbClr val="2A00FF"/>
                </a:solidFill>
                <a:latin typeface="Consolas"/>
                <a:ea typeface="Consolas"/>
                <a:cs typeface="Consolas"/>
                <a:sym typeface="Consolas"/>
              </a:rPr>
              <a:t>"</a:t>
            </a:r>
            <a:r>
              <a:rPr lang="en-US" b="1" i="1">
                <a:solidFill>
                  <a:srgbClr val="2A00FF"/>
                </a:solidFill>
                <a:latin typeface="Consolas"/>
                <a:ea typeface="Consolas"/>
                <a:cs typeface="Consolas"/>
                <a:sym typeface="Consolas"/>
              </a:rPr>
              <a:t>Invalid Amount. Amount should not exceed 25lacs</a:t>
            </a:r>
            <a:r>
              <a:rPr lang="en-US" sz="1400" b="1" i="1" u="none" strike="noStrike" cap="none">
                <a:solidFill>
                  <a:srgbClr val="2A00FF"/>
                </a:solidFill>
                <a:latin typeface="Consolas"/>
                <a:ea typeface="Consolas"/>
                <a:cs typeface="Consolas"/>
                <a:sym typeface="Consolas"/>
              </a:rPr>
              <a:t>!"</a:t>
            </a:r>
            <a:r>
              <a:rPr lang="en-US" sz="1400" b="1" i="1"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return</a:t>
            </a:r>
            <a:r>
              <a:rPr lang="en-US" sz="1400" b="1" i="0" u="none" strike="noStrike" cap="none">
                <a:solidFill>
                  <a:srgbClr val="000000"/>
                </a:solidFill>
                <a:latin typeface="Consolas"/>
                <a:ea typeface="Consolas"/>
                <a:cs typeface="Consolas"/>
                <a:sym typeface="Consolas"/>
              </a:rPr>
              <a:t>;</a:t>
            </a:r>
            <a:r>
              <a:rPr lang="en-US" sz="14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0" i="0" u="none" strike="noStrike" cap="none">
                <a:solidFill>
                  <a:srgbClr val="0000C0"/>
                </a:solidFill>
                <a:latin typeface="Consolas"/>
                <a:ea typeface="Consolas"/>
                <a:cs typeface="Consolas"/>
                <a:sym typeface="Consolas"/>
              </a:rPr>
              <a:t>transactionProcessor</a:t>
            </a:r>
            <a:r>
              <a:rPr lang="en-US" sz="1400" b="0" i="0" u="none" strike="noStrike" cap="none">
                <a:solidFill>
                  <a:srgbClr val="000000"/>
                </a:solidFill>
                <a:latin typeface="Consolas"/>
                <a:ea typeface="Consolas"/>
                <a:cs typeface="Consolas"/>
                <a:sym typeface="Consolas"/>
              </a:rPr>
              <a:t>.approve(</a:t>
            </a:r>
            <a:r>
              <a:rPr lang="en-US" sz="1400" b="0" i="0" u="none" strike="noStrike" cap="none">
                <a:solidFill>
                  <a:srgbClr val="6A3E3E"/>
                </a:solidFill>
                <a:latin typeface="Consolas"/>
                <a:ea typeface="Consolas"/>
                <a:cs typeface="Consolas"/>
                <a:sym typeface="Consolas"/>
              </a:rPr>
              <a:t>transaction</a:t>
            </a:r>
            <a:r>
              <a:rPr lang="en-US" sz="1400" b="0"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0"/>
          <p:cNvSpPr txBox="1"/>
          <p:nvPr/>
        </p:nvSpPr>
        <p:spPr>
          <a:xfrm>
            <a:off x="168675" y="1281504"/>
            <a:ext cx="9907481" cy="517064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0" i="0" u="none" strike="noStrike" cap="none">
                <a:solidFill>
                  <a:srgbClr val="000000"/>
                </a:solidFill>
                <a:latin typeface="Calibri"/>
                <a:ea typeface="Calibri"/>
                <a:cs typeface="Calibri"/>
                <a:sym typeface="Calibri"/>
              </a:rPr>
              <a:t>Now we need to create concrete class for each approver (Manager, Vice President, CEO) and this class will extend TransactionProcessor.</a:t>
            </a:r>
            <a:endParaRPr/>
          </a:p>
          <a:p>
            <a:pPr marL="0" marR="0" lvl="0" indent="0" algn="just" rtl="0">
              <a:lnSpc>
                <a:spcPct val="150000"/>
              </a:lnSpc>
              <a:spcBef>
                <a:spcPts val="0"/>
              </a:spcBef>
              <a:spcAft>
                <a:spcPts val="0"/>
              </a:spcAft>
              <a:buNone/>
            </a:pPr>
            <a:r>
              <a:rPr lang="en-US" sz="2000" b="0" i="0" u="none" strike="noStrike" cap="none">
                <a:solidFill>
                  <a:srgbClr val="000000"/>
                </a:solidFill>
                <a:latin typeface="Calibri"/>
                <a:ea typeface="Calibri"/>
                <a:cs typeface="Calibri"/>
                <a:sym typeface="Calibri"/>
              </a:rPr>
              <a:t>Each processing class sets its limit and designation. </a:t>
            </a:r>
            <a:endParaRPr/>
          </a:p>
          <a:p>
            <a:pPr marL="0" marR="0" lvl="0" indent="0" algn="l" rtl="0">
              <a:lnSpc>
                <a:spcPct val="100000"/>
              </a:lnSpc>
              <a:spcBef>
                <a:spcPts val="0"/>
              </a:spcBef>
              <a:spcAft>
                <a:spcPts val="0"/>
              </a:spcAft>
              <a:buNone/>
            </a:pPr>
            <a:r>
              <a:rPr lang="en-US" sz="2000" b="1" i="0" u="none" strike="noStrike" cap="none">
                <a:solidFill>
                  <a:srgbClr val="7F0055"/>
                </a:solidFill>
                <a:latin typeface="Consolas"/>
                <a:ea typeface="Consolas"/>
                <a:cs typeface="Consolas"/>
                <a:sym typeface="Consolas"/>
              </a:rPr>
              <a:t>class</a:t>
            </a:r>
            <a:r>
              <a:rPr lang="en-US" sz="2000" b="1" i="0" u="none" strike="noStrike" cap="none">
                <a:solidFill>
                  <a:srgbClr val="000000"/>
                </a:solidFill>
                <a:latin typeface="Consolas"/>
                <a:ea typeface="Consolas"/>
                <a:cs typeface="Consolas"/>
                <a:sym typeface="Consolas"/>
              </a:rPr>
              <a:t> Manager </a:t>
            </a:r>
            <a:r>
              <a:rPr lang="en-US" sz="2000" b="1" i="0" u="none" strike="noStrike" cap="none">
                <a:solidFill>
                  <a:srgbClr val="7F0055"/>
                </a:solidFill>
                <a:latin typeface="Consolas"/>
                <a:ea typeface="Consolas"/>
                <a:cs typeface="Consolas"/>
                <a:sym typeface="Consolas"/>
              </a:rPr>
              <a:t>extends</a:t>
            </a:r>
            <a:r>
              <a:rPr lang="en-US" sz="2000" b="1" i="0" u="none" strike="noStrike" cap="none">
                <a:solidFill>
                  <a:srgbClr val="000000"/>
                </a:solidFill>
                <a:latin typeface="Consolas"/>
                <a:ea typeface="Consolas"/>
                <a:cs typeface="Consolas"/>
                <a:sym typeface="Consolas"/>
              </a:rPr>
              <a:t> TransactionProcessor{</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0" i="0" u="none" strike="noStrike" cap="none">
                <a:solidFill>
                  <a:srgbClr val="646464"/>
                </a:solidFill>
                <a:latin typeface="Consolas"/>
                <a:ea typeface="Consolas"/>
                <a:cs typeface="Consolas"/>
                <a:sym typeface="Consolas"/>
              </a:rPr>
              <a:t>@Override</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protected</a:t>
            </a:r>
            <a:r>
              <a:rPr lang="en-US" sz="2000" b="1" i="0" u="none" strike="noStrike" cap="none">
                <a:solidFill>
                  <a:srgbClr val="000000"/>
                </a:solidFill>
                <a:latin typeface="Consolas"/>
                <a:ea typeface="Consolas"/>
                <a:cs typeface="Consolas"/>
                <a:sym typeface="Consolas"/>
              </a:rPr>
              <a:t> Double getApprovalLimit()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return</a:t>
            </a:r>
            <a:r>
              <a:rPr lang="en-US" sz="2000" b="1" i="0" u="none" strike="noStrike" cap="none">
                <a:solidFill>
                  <a:srgbClr val="000000"/>
                </a:solidFill>
                <a:latin typeface="Consolas"/>
                <a:ea typeface="Consolas"/>
                <a:cs typeface="Consolas"/>
                <a:sym typeface="Consolas"/>
              </a:rPr>
              <a:t> 100000.0;</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0" i="0" u="none" strike="noStrike" cap="none">
                <a:solidFill>
                  <a:srgbClr val="646464"/>
                </a:solidFill>
                <a:latin typeface="Consolas"/>
                <a:ea typeface="Consolas"/>
                <a:cs typeface="Consolas"/>
                <a:sym typeface="Consolas"/>
              </a:rPr>
              <a:t>@Override</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protected</a:t>
            </a:r>
            <a:r>
              <a:rPr lang="en-US" sz="2000" b="1" i="0" u="none" strike="noStrike" cap="none">
                <a:solidFill>
                  <a:srgbClr val="000000"/>
                </a:solidFill>
                <a:latin typeface="Consolas"/>
                <a:ea typeface="Consolas"/>
                <a:cs typeface="Consolas"/>
                <a:sym typeface="Consolas"/>
              </a:rPr>
              <a:t> String getDesignation()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return</a:t>
            </a:r>
            <a:r>
              <a:rPr lang="en-US" sz="2000" b="1" i="0" u="none" strike="noStrike" cap="none">
                <a:solidFill>
                  <a:srgbClr val="000000"/>
                </a:solidFill>
                <a:latin typeface="Consolas"/>
                <a:ea typeface="Consolas"/>
                <a:cs typeface="Consolas"/>
                <a:sym typeface="Consolas"/>
              </a:rPr>
              <a:t> </a:t>
            </a:r>
            <a:r>
              <a:rPr lang="en-US" sz="2000" b="1" i="0" u="none" strike="noStrike" cap="none">
                <a:solidFill>
                  <a:srgbClr val="2A00FF"/>
                </a:solidFill>
                <a:latin typeface="Consolas"/>
                <a:ea typeface="Consolas"/>
                <a:cs typeface="Consolas"/>
                <a:sym typeface="Consolas"/>
              </a:rPr>
              <a:t>"manager"</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a:t>
            </a: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1"/>
          <p:cNvSpPr txBox="1"/>
          <p:nvPr/>
        </p:nvSpPr>
        <p:spPr>
          <a:xfrm>
            <a:off x="221942" y="1384505"/>
            <a:ext cx="8682361"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7F0055"/>
                </a:solidFill>
                <a:latin typeface="Consolas"/>
                <a:ea typeface="Consolas"/>
                <a:cs typeface="Consolas"/>
                <a:sym typeface="Consolas"/>
              </a:rPr>
              <a:t>class</a:t>
            </a:r>
            <a:r>
              <a:rPr lang="en-US" sz="2000" b="1" i="0" u="none" strike="noStrike" cap="none">
                <a:solidFill>
                  <a:srgbClr val="000000"/>
                </a:solidFill>
                <a:latin typeface="Consolas"/>
                <a:ea typeface="Consolas"/>
                <a:cs typeface="Consolas"/>
                <a:sym typeface="Consolas"/>
              </a:rPr>
              <a:t> VicePresident </a:t>
            </a:r>
            <a:r>
              <a:rPr lang="en-US" sz="2000" b="1" i="0" u="none" strike="noStrike" cap="none">
                <a:solidFill>
                  <a:srgbClr val="7F0055"/>
                </a:solidFill>
                <a:latin typeface="Consolas"/>
                <a:ea typeface="Consolas"/>
                <a:cs typeface="Consolas"/>
                <a:sym typeface="Consolas"/>
              </a:rPr>
              <a:t>extends</a:t>
            </a:r>
            <a:r>
              <a:rPr lang="en-US" sz="2000" b="1" i="0" u="none" strike="noStrike" cap="none">
                <a:solidFill>
                  <a:srgbClr val="000000"/>
                </a:solidFill>
                <a:latin typeface="Consolas"/>
                <a:ea typeface="Consolas"/>
                <a:cs typeface="Consolas"/>
                <a:sym typeface="Consolas"/>
              </a:rPr>
              <a:t> TransactionProcessor{</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0" i="0" u="none" strike="noStrike" cap="none">
                <a:solidFill>
                  <a:srgbClr val="646464"/>
                </a:solidFill>
                <a:latin typeface="Consolas"/>
                <a:ea typeface="Consolas"/>
                <a:cs typeface="Consolas"/>
                <a:sym typeface="Consolas"/>
              </a:rPr>
              <a:t>@Override</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protected</a:t>
            </a:r>
            <a:r>
              <a:rPr lang="en-US" sz="2000" b="1" i="0" u="none" strike="noStrike" cap="none">
                <a:solidFill>
                  <a:srgbClr val="000000"/>
                </a:solidFill>
                <a:latin typeface="Consolas"/>
                <a:ea typeface="Consolas"/>
                <a:cs typeface="Consolas"/>
                <a:sym typeface="Consolas"/>
              </a:rPr>
              <a:t> Double getApprovalLimit()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return</a:t>
            </a:r>
            <a:r>
              <a:rPr lang="en-US" sz="2000" b="1" i="0" u="none" strike="noStrike" cap="none">
                <a:solidFill>
                  <a:srgbClr val="000000"/>
                </a:solidFill>
                <a:latin typeface="Consolas"/>
                <a:ea typeface="Consolas"/>
                <a:cs typeface="Consolas"/>
                <a:sym typeface="Consolas"/>
              </a:rPr>
              <a:t> 1000000.0;</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0" i="0" u="none" strike="noStrike" cap="none">
                <a:solidFill>
                  <a:srgbClr val="646464"/>
                </a:solidFill>
                <a:latin typeface="Consolas"/>
                <a:ea typeface="Consolas"/>
                <a:cs typeface="Consolas"/>
                <a:sym typeface="Consolas"/>
              </a:rPr>
              <a:t>@Override</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protected</a:t>
            </a:r>
            <a:r>
              <a:rPr lang="en-US" sz="2000" b="1" i="0" u="none" strike="noStrike" cap="none">
                <a:solidFill>
                  <a:srgbClr val="000000"/>
                </a:solidFill>
                <a:latin typeface="Consolas"/>
                <a:ea typeface="Consolas"/>
                <a:cs typeface="Consolas"/>
                <a:sym typeface="Consolas"/>
              </a:rPr>
              <a:t> String getDesignation()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return</a:t>
            </a:r>
            <a:r>
              <a:rPr lang="en-US" sz="2000" b="1" i="0" u="none" strike="noStrike" cap="none">
                <a:solidFill>
                  <a:srgbClr val="000000"/>
                </a:solidFill>
                <a:latin typeface="Consolas"/>
                <a:ea typeface="Consolas"/>
                <a:cs typeface="Consolas"/>
                <a:sym typeface="Consolas"/>
              </a:rPr>
              <a:t> </a:t>
            </a:r>
            <a:r>
              <a:rPr lang="en-US" sz="2000" b="1" i="0" u="none" strike="noStrike" cap="none">
                <a:solidFill>
                  <a:srgbClr val="2A00FF"/>
                </a:solidFill>
                <a:latin typeface="Consolas"/>
                <a:ea typeface="Consolas"/>
                <a:cs typeface="Consolas"/>
                <a:sym typeface="Consolas"/>
              </a:rPr>
              <a:t>“Vice President"</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2"/>
          <p:cNvSpPr txBox="1"/>
          <p:nvPr/>
        </p:nvSpPr>
        <p:spPr>
          <a:xfrm>
            <a:off x="363984" y="1536174"/>
            <a:ext cx="8464857"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7F0055"/>
                </a:solidFill>
                <a:latin typeface="Consolas"/>
                <a:ea typeface="Consolas"/>
                <a:cs typeface="Consolas"/>
                <a:sym typeface="Consolas"/>
              </a:rPr>
              <a:t>class</a:t>
            </a:r>
            <a:r>
              <a:rPr lang="en-US" sz="2000" b="1" i="0" u="none" strike="noStrike" cap="none">
                <a:solidFill>
                  <a:srgbClr val="000000"/>
                </a:solidFill>
                <a:latin typeface="Consolas"/>
                <a:ea typeface="Consolas"/>
                <a:cs typeface="Consolas"/>
                <a:sym typeface="Consolas"/>
              </a:rPr>
              <a:t> CEO </a:t>
            </a:r>
            <a:r>
              <a:rPr lang="en-US" sz="2000" b="1" i="0" u="none" strike="noStrike" cap="none">
                <a:solidFill>
                  <a:srgbClr val="7F0055"/>
                </a:solidFill>
                <a:latin typeface="Consolas"/>
                <a:ea typeface="Consolas"/>
                <a:cs typeface="Consolas"/>
                <a:sym typeface="Consolas"/>
              </a:rPr>
              <a:t>extends</a:t>
            </a:r>
            <a:r>
              <a:rPr lang="en-US" sz="2000" b="1" i="0" u="none" strike="noStrike" cap="none">
                <a:solidFill>
                  <a:srgbClr val="000000"/>
                </a:solidFill>
                <a:latin typeface="Consolas"/>
                <a:ea typeface="Consolas"/>
                <a:cs typeface="Consolas"/>
                <a:sym typeface="Consolas"/>
              </a:rPr>
              <a:t> TransactionProcessor{</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0" i="0" u="none" strike="noStrike" cap="none">
                <a:solidFill>
                  <a:srgbClr val="646464"/>
                </a:solidFill>
                <a:latin typeface="Consolas"/>
                <a:ea typeface="Consolas"/>
                <a:cs typeface="Consolas"/>
                <a:sym typeface="Consolas"/>
              </a:rPr>
              <a:t>@Override</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protected</a:t>
            </a:r>
            <a:r>
              <a:rPr lang="en-US" sz="2000" b="1" i="0" u="none" strike="noStrike" cap="none">
                <a:solidFill>
                  <a:srgbClr val="000000"/>
                </a:solidFill>
                <a:latin typeface="Consolas"/>
                <a:ea typeface="Consolas"/>
                <a:cs typeface="Consolas"/>
                <a:sym typeface="Consolas"/>
              </a:rPr>
              <a:t> Double getApprovalLimit()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return</a:t>
            </a:r>
            <a:r>
              <a:rPr lang="en-US" sz="2000" b="1" i="0" u="none" strike="noStrike" cap="none">
                <a:solidFill>
                  <a:srgbClr val="000000"/>
                </a:solidFill>
                <a:latin typeface="Consolas"/>
                <a:ea typeface="Consolas"/>
                <a:cs typeface="Consolas"/>
                <a:sym typeface="Consolas"/>
              </a:rPr>
              <a:t> 2500000.0;</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0" i="0" u="none" strike="noStrike" cap="none">
                <a:solidFill>
                  <a:srgbClr val="646464"/>
                </a:solidFill>
                <a:latin typeface="Consolas"/>
                <a:ea typeface="Consolas"/>
                <a:cs typeface="Consolas"/>
                <a:sym typeface="Consolas"/>
              </a:rPr>
              <a:t>@Override</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protected</a:t>
            </a:r>
            <a:r>
              <a:rPr lang="en-US" sz="2000" b="1" i="0" u="none" strike="noStrike" cap="none">
                <a:solidFill>
                  <a:srgbClr val="000000"/>
                </a:solidFill>
                <a:latin typeface="Consolas"/>
                <a:ea typeface="Consolas"/>
                <a:cs typeface="Consolas"/>
                <a:sym typeface="Consolas"/>
              </a:rPr>
              <a:t> String getDesignation()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return</a:t>
            </a:r>
            <a:r>
              <a:rPr lang="en-US" sz="2000" b="1" i="0" u="none" strike="noStrike" cap="none">
                <a:solidFill>
                  <a:srgbClr val="000000"/>
                </a:solidFill>
                <a:latin typeface="Consolas"/>
                <a:ea typeface="Consolas"/>
                <a:cs typeface="Consolas"/>
                <a:sym typeface="Consolas"/>
              </a:rPr>
              <a:t> </a:t>
            </a:r>
            <a:r>
              <a:rPr lang="en-US" sz="2000" b="1" i="0" u="none" strike="noStrike" cap="none">
                <a:solidFill>
                  <a:srgbClr val="2A00FF"/>
                </a:solidFill>
                <a:latin typeface="Consolas"/>
                <a:ea typeface="Consolas"/>
                <a:cs typeface="Consolas"/>
                <a:sym typeface="Consolas"/>
              </a:rPr>
              <a:t>"CEO"</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3"/>
          <p:cNvSpPr txBox="1"/>
          <p:nvPr/>
        </p:nvSpPr>
        <p:spPr>
          <a:xfrm>
            <a:off x="213064" y="1364789"/>
            <a:ext cx="8606900" cy="50167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Consolas"/>
                <a:ea typeface="Consolas"/>
                <a:cs typeface="Consolas"/>
                <a:sym typeface="Consolas"/>
              </a:rPr>
              <a:t>Next Create a transaction class. </a:t>
            </a:r>
            <a:endParaRPr/>
          </a:p>
          <a:p>
            <a:pPr marL="0" marR="0" lvl="0" indent="0" algn="l" rtl="0">
              <a:lnSpc>
                <a:spcPct val="100000"/>
              </a:lnSpc>
              <a:spcBef>
                <a:spcPts val="0"/>
              </a:spcBef>
              <a:spcAft>
                <a:spcPts val="0"/>
              </a:spcAft>
              <a:buNone/>
            </a:pPr>
            <a:r>
              <a:rPr lang="en-US" sz="2000" b="1" i="0" u="none" strike="noStrike" cap="none">
                <a:solidFill>
                  <a:srgbClr val="7F0055"/>
                </a:solidFill>
                <a:latin typeface="Consolas"/>
                <a:ea typeface="Consolas"/>
                <a:cs typeface="Consolas"/>
                <a:sym typeface="Consolas"/>
              </a:rPr>
              <a:t>class</a:t>
            </a:r>
            <a:r>
              <a:rPr lang="en-US" sz="2000" b="1" i="0" u="none" strike="noStrike" cap="none">
                <a:solidFill>
                  <a:srgbClr val="000000"/>
                </a:solidFill>
                <a:latin typeface="Consolas"/>
                <a:ea typeface="Consolas"/>
                <a:cs typeface="Consolas"/>
                <a:sym typeface="Consolas"/>
              </a:rPr>
              <a:t> Transaction{</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private</a:t>
            </a:r>
            <a:r>
              <a:rPr lang="en-US" sz="2000" b="1" i="0" u="none" strike="noStrike" cap="none">
                <a:solidFill>
                  <a:srgbClr val="000000"/>
                </a:solidFill>
                <a:latin typeface="Consolas"/>
                <a:ea typeface="Consolas"/>
                <a:cs typeface="Consolas"/>
                <a:sym typeface="Consolas"/>
              </a:rPr>
              <a:t> Double </a:t>
            </a:r>
            <a:r>
              <a:rPr lang="en-US" sz="2000" b="1" i="0" u="none" strike="noStrike" cap="none">
                <a:solidFill>
                  <a:srgbClr val="0000C0"/>
                </a:solidFill>
                <a:latin typeface="Consolas"/>
                <a:ea typeface="Consolas"/>
                <a:cs typeface="Consolas"/>
                <a:sym typeface="Consolas"/>
              </a:rPr>
              <a:t>amount</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private</a:t>
            </a:r>
            <a:r>
              <a:rPr lang="en-US" sz="2000" b="1" i="0" u="none" strike="noStrike" cap="none">
                <a:solidFill>
                  <a:srgbClr val="000000"/>
                </a:solidFill>
                <a:latin typeface="Consolas"/>
                <a:ea typeface="Consolas"/>
                <a:cs typeface="Consolas"/>
                <a:sym typeface="Consolas"/>
              </a:rPr>
              <a:t> String </a:t>
            </a:r>
            <a:r>
              <a:rPr lang="en-US" sz="2000" b="1" i="0" u="none" strike="noStrike" cap="none">
                <a:solidFill>
                  <a:srgbClr val="0000C0"/>
                </a:solidFill>
                <a:latin typeface="Consolas"/>
                <a:ea typeface="Consolas"/>
                <a:cs typeface="Consolas"/>
                <a:sym typeface="Consolas"/>
              </a:rPr>
              <a:t>purpose</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Transaction(Double </a:t>
            </a:r>
            <a:r>
              <a:rPr lang="en-US" sz="2000" b="0" i="0" u="none" strike="noStrike" cap="none">
                <a:solidFill>
                  <a:srgbClr val="6A3E3E"/>
                </a:solidFill>
                <a:latin typeface="Consolas"/>
                <a:ea typeface="Consolas"/>
                <a:cs typeface="Consolas"/>
                <a:sym typeface="Consolas"/>
              </a:rPr>
              <a:t>amount</a:t>
            </a:r>
            <a:r>
              <a:rPr lang="en-US" sz="2000" b="0" i="0" u="none" strike="noStrike" cap="none">
                <a:solidFill>
                  <a:srgbClr val="000000"/>
                </a:solidFill>
                <a:latin typeface="Consolas"/>
                <a:ea typeface="Consolas"/>
                <a:cs typeface="Consolas"/>
                <a:sym typeface="Consolas"/>
              </a:rPr>
              <a:t>, String </a:t>
            </a:r>
            <a:r>
              <a:rPr lang="en-US" sz="2000" b="0" i="0" u="none" strike="noStrike" cap="none">
                <a:solidFill>
                  <a:srgbClr val="6A3E3E"/>
                </a:solidFill>
                <a:latin typeface="Consolas"/>
                <a:ea typeface="Consolas"/>
                <a:cs typeface="Consolas"/>
                <a:sym typeface="Consolas"/>
              </a:rPr>
              <a:t>purpose</a:t>
            </a:r>
            <a:r>
              <a:rPr lang="en-US" sz="2000" b="0"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this</a:t>
            </a:r>
            <a:r>
              <a:rPr lang="en-US" sz="2000" b="1" i="0" u="none" strike="noStrike" cap="none">
                <a:solidFill>
                  <a:srgbClr val="000000"/>
                </a:solidFill>
                <a:latin typeface="Consolas"/>
                <a:ea typeface="Consolas"/>
                <a:cs typeface="Consolas"/>
                <a:sym typeface="Consolas"/>
              </a:rPr>
              <a:t>.</a:t>
            </a:r>
            <a:r>
              <a:rPr lang="en-US" sz="2000" b="1" i="0" u="none" strike="noStrike" cap="none">
                <a:solidFill>
                  <a:srgbClr val="0000C0"/>
                </a:solidFill>
                <a:latin typeface="Consolas"/>
                <a:ea typeface="Consolas"/>
                <a:cs typeface="Consolas"/>
                <a:sym typeface="Consolas"/>
              </a:rPr>
              <a:t>amount</a:t>
            </a:r>
            <a:r>
              <a:rPr lang="en-US" sz="2000" b="1" i="0" u="none" strike="noStrike" cap="none">
                <a:solidFill>
                  <a:srgbClr val="000000"/>
                </a:solidFill>
                <a:latin typeface="Consolas"/>
                <a:ea typeface="Consolas"/>
                <a:cs typeface="Consolas"/>
                <a:sym typeface="Consolas"/>
              </a:rPr>
              <a:t> = </a:t>
            </a:r>
            <a:r>
              <a:rPr lang="en-US" sz="2000" b="1" i="0" u="none" strike="noStrike" cap="none">
                <a:solidFill>
                  <a:srgbClr val="6A3E3E"/>
                </a:solidFill>
                <a:latin typeface="Consolas"/>
                <a:ea typeface="Consolas"/>
                <a:cs typeface="Consolas"/>
                <a:sym typeface="Consolas"/>
              </a:rPr>
              <a:t>amount</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this</a:t>
            </a:r>
            <a:r>
              <a:rPr lang="en-US" sz="2000" b="1" i="0" u="none" strike="noStrike" cap="none">
                <a:solidFill>
                  <a:srgbClr val="000000"/>
                </a:solidFill>
                <a:latin typeface="Consolas"/>
                <a:ea typeface="Consolas"/>
                <a:cs typeface="Consolas"/>
                <a:sym typeface="Consolas"/>
              </a:rPr>
              <a:t>.</a:t>
            </a:r>
            <a:r>
              <a:rPr lang="en-US" sz="2000" b="1" i="0" u="none" strike="noStrike" cap="none">
                <a:solidFill>
                  <a:srgbClr val="0000C0"/>
                </a:solidFill>
                <a:latin typeface="Consolas"/>
                <a:ea typeface="Consolas"/>
                <a:cs typeface="Consolas"/>
                <a:sym typeface="Consolas"/>
              </a:rPr>
              <a:t>purpose</a:t>
            </a:r>
            <a:r>
              <a:rPr lang="en-US" sz="2000" b="1" i="0" u="none" strike="noStrike" cap="none">
                <a:solidFill>
                  <a:srgbClr val="000000"/>
                </a:solidFill>
                <a:latin typeface="Consolas"/>
                <a:ea typeface="Consolas"/>
                <a:cs typeface="Consolas"/>
                <a:sym typeface="Consolas"/>
              </a:rPr>
              <a:t> = </a:t>
            </a:r>
            <a:r>
              <a:rPr lang="en-US" sz="2000" b="1" i="0" u="none" strike="noStrike" cap="none">
                <a:solidFill>
                  <a:srgbClr val="6A3E3E"/>
                </a:solidFill>
                <a:latin typeface="Consolas"/>
                <a:ea typeface="Consolas"/>
                <a:cs typeface="Consolas"/>
                <a:sym typeface="Consolas"/>
              </a:rPr>
              <a:t>purpose</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public</a:t>
            </a:r>
            <a:r>
              <a:rPr lang="en-US" sz="2000" b="1" i="0" u="none" strike="noStrike" cap="none">
                <a:solidFill>
                  <a:srgbClr val="000000"/>
                </a:solidFill>
                <a:latin typeface="Consolas"/>
                <a:ea typeface="Consolas"/>
                <a:cs typeface="Consolas"/>
                <a:sym typeface="Consolas"/>
              </a:rPr>
              <a:t> Double getAmount()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return</a:t>
            </a:r>
            <a:r>
              <a:rPr lang="en-US" sz="2000" b="1" i="0" u="none" strike="noStrike" cap="none">
                <a:solidFill>
                  <a:srgbClr val="000000"/>
                </a:solidFill>
                <a:latin typeface="Consolas"/>
                <a:ea typeface="Consolas"/>
                <a:cs typeface="Consolas"/>
                <a:sym typeface="Consolas"/>
              </a:rPr>
              <a:t> </a:t>
            </a:r>
            <a:r>
              <a:rPr lang="en-US" sz="2000" b="1" i="0" u="none" strike="noStrike" cap="none">
                <a:solidFill>
                  <a:srgbClr val="0000C0"/>
                </a:solidFill>
                <a:latin typeface="Consolas"/>
                <a:ea typeface="Consolas"/>
                <a:cs typeface="Consolas"/>
                <a:sym typeface="Consolas"/>
              </a:rPr>
              <a:t>amount</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public</a:t>
            </a:r>
            <a:r>
              <a:rPr lang="en-US" sz="2000" b="1" i="0" u="none" strike="noStrike" cap="none">
                <a:solidFill>
                  <a:srgbClr val="000000"/>
                </a:solidFill>
                <a:latin typeface="Consolas"/>
                <a:ea typeface="Consolas"/>
                <a:cs typeface="Consolas"/>
                <a:sym typeface="Consolas"/>
              </a:rPr>
              <a:t> String getPurpose()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7F0055"/>
                </a:solidFill>
                <a:latin typeface="Consolas"/>
                <a:ea typeface="Consolas"/>
                <a:cs typeface="Consolas"/>
                <a:sym typeface="Consolas"/>
              </a:rPr>
              <a:t>return</a:t>
            </a:r>
            <a:r>
              <a:rPr lang="en-US" sz="2000" b="1" i="0" u="none" strike="noStrike" cap="none">
                <a:solidFill>
                  <a:srgbClr val="000000"/>
                </a:solidFill>
                <a:latin typeface="Consolas"/>
                <a:ea typeface="Consolas"/>
                <a:cs typeface="Consolas"/>
                <a:sym typeface="Consolas"/>
              </a:rPr>
              <a:t> </a:t>
            </a:r>
            <a:r>
              <a:rPr lang="en-US" sz="2000" b="1" i="0" u="none" strike="noStrike" cap="none">
                <a:solidFill>
                  <a:srgbClr val="0000C0"/>
                </a:solidFill>
                <a:latin typeface="Consolas"/>
                <a:ea typeface="Consolas"/>
                <a:cs typeface="Consolas"/>
                <a:sym typeface="Consolas"/>
              </a:rPr>
              <a:t>purpose</a:t>
            </a:r>
            <a:r>
              <a:rPr lang="en-US" sz="20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4"/>
          <p:cNvSpPr txBox="1"/>
          <p:nvPr/>
        </p:nvSpPr>
        <p:spPr>
          <a:xfrm>
            <a:off x="106532" y="1389864"/>
            <a:ext cx="10129422" cy="504753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400" b="0" i="0" u="none" strike="noStrike" cap="none">
                <a:solidFill>
                  <a:srgbClr val="000000"/>
                </a:solidFill>
                <a:latin typeface="Arial"/>
                <a:ea typeface="Arial"/>
                <a:cs typeface="Arial"/>
                <a:sym typeface="Arial"/>
              </a:rPr>
              <a:t>Now let us glue all these classes together to form chain of responsibility pattern using ChainOfResponsibility class.</a:t>
            </a:r>
            <a:endParaRPr/>
          </a:p>
          <a:p>
            <a:pPr marL="285750" marR="0" lvl="0" indent="-285750" algn="just" rtl="0">
              <a:lnSpc>
                <a:spcPct val="150000"/>
              </a:lnSpc>
              <a:spcBef>
                <a:spcPts val="0"/>
              </a:spcBef>
              <a:spcAft>
                <a:spcPts val="0"/>
              </a:spcAft>
              <a:buClr>
                <a:srgbClr val="000000"/>
              </a:buClr>
              <a:buSzPts val="1400"/>
              <a:buFont typeface="Noto Sans Symbols"/>
              <a:buChar char="▪"/>
            </a:pPr>
            <a:r>
              <a:rPr lang="en-US" sz="1400" b="0" i="0" u="none" strike="noStrike" cap="none">
                <a:solidFill>
                  <a:srgbClr val="000000"/>
                </a:solidFill>
                <a:latin typeface="Arial"/>
                <a:ea typeface="Arial"/>
                <a:cs typeface="Arial"/>
                <a:sym typeface="Arial"/>
              </a:rPr>
              <a:t>Create processing objects. We have three processing objects in the chain.</a:t>
            </a:r>
            <a:endParaRPr/>
          </a:p>
          <a:p>
            <a:pPr marL="285750" marR="0" lvl="0" indent="-285750" algn="just" rtl="0">
              <a:lnSpc>
                <a:spcPct val="150000"/>
              </a:lnSpc>
              <a:spcBef>
                <a:spcPts val="0"/>
              </a:spcBef>
              <a:spcAft>
                <a:spcPts val="0"/>
              </a:spcAft>
              <a:buClr>
                <a:srgbClr val="000000"/>
              </a:buClr>
              <a:buSzPts val="1400"/>
              <a:buFont typeface="Noto Sans Symbols"/>
              <a:buChar char="▪"/>
            </a:pPr>
            <a:r>
              <a:rPr lang="en-US" sz="1400" b="0" i="0" u="none" strike="noStrike" cap="none">
                <a:solidFill>
                  <a:srgbClr val="000000"/>
                </a:solidFill>
                <a:latin typeface="Arial"/>
                <a:ea typeface="Arial"/>
                <a:cs typeface="Arial"/>
                <a:sym typeface="Arial"/>
              </a:rPr>
              <a:t>Chain together all the processing objects. Order of the objects is important because manager handover transaction to vice president.</a:t>
            </a:r>
            <a:endParaRPr/>
          </a:p>
          <a:p>
            <a:pPr marL="285750" marR="0" lvl="0" indent="-285750" algn="just" rtl="0">
              <a:lnSpc>
                <a:spcPct val="150000"/>
              </a:lnSpc>
              <a:spcBef>
                <a:spcPts val="0"/>
              </a:spcBef>
              <a:spcAft>
                <a:spcPts val="0"/>
              </a:spcAft>
              <a:buClr>
                <a:srgbClr val="000000"/>
              </a:buClr>
              <a:buSzPts val="1400"/>
              <a:buFont typeface="Noto Sans Symbols"/>
              <a:buChar char="▪"/>
            </a:pPr>
            <a:r>
              <a:rPr lang="en-US" sz="1400" b="0" i="0" u="none" strike="noStrike" cap="none">
                <a:solidFill>
                  <a:srgbClr val="000000"/>
                </a:solidFill>
                <a:latin typeface="Arial"/>
                <a:ea typeface="Arial"/>
                <a:cs typeface="Arial"/>
                <a:sym typeface="Arial"/>
              </a:rPr>
              <a:t>Because the chain starts from the manager so transactions are pushed using the manager instance.</a:t>
            </a:r>
            <a:endParaRPr/>
          </a:p>
          <a:p>
            <a:pPr marL="0" marR="0" lvl="0" indent="0" algn="l" rtl="0">
              <a:lnSpc>
                <a:spcPct val="15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7F0055"/>
                </a:solidFill>
                <a:latin typeface="Consolas"/>
                <a:ea typeface="Consolas"/>
                <a:cs typeface="Consolas"/>
                <a:sym typeface="Consolas"/>
              </a:rPr>
              <a:t>public</a:t>
            </a:r>
            <a:r>
              <a:rPr lang="en-US" sz="1400" b="1"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class</a:t>
            </a:r>
            <a:r>
              <a:rPr lang="en-US" sz="1400" b="1" i="0" u="none" strike="noStrike" cap="none">
                <a:solidFill>
                  <a:srgbClr val="000000"/>
                </a:solidFill>
                <a:latin typeface="Consolas"/>
                <a:ea typeface="Consolas"/>
                <a:cs typeface="Consolas"/>
                <a:sym typeface="Consolas"/>
              </a:rPr>
              <a:t> ChainOfResponsibility {</a:t>
            </a:r>
            <a:endParaRPr/>
          </a:p>
          <a:p>
            <a:pPr marL="0" marR="0" lvl="0" indent="0" algn="l" rtl="0">
              <a:lnSpc>
                <a:spcPct val="100000"/>
              </a:lnSpc>
              <a:spcBef>
                <a:spcPts val="0"/>
              </a:spcBef>
              <a:spcAft>
                <a:spcPts val="0"/>
              </a:spcAft>
              <a:buNone/>
            </a:pPr>
            <a:r>
              <a:rPr lang="en-US" sz="1400" b="1" i="0" u="none" strike="noStrike" cap="none">
                <a:solidFill>
                  <a:srgbClr val="7F0055"/>
                </a:solidFill>
                <a:latin typeface="Consolas"/>
                <a:ea typeface="Consolas"/>
                <a:cs typeface="Consolas"/>
                <a:sym typeface="Consolas"/>
              </a:rPr>
              <a:t>public</a:t>
            </a:r>
            <a:r>
              <a:rPr lang="en-US" sz="1400" b="1"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static</a:t>
            </a:r>
            <a:r>
              <a:rPr lang="en-US" sz="1400" b="1" i="0" u="none" strike="noStrike" cap="none">
                <a:solidFill>
                  <a:srgbClr val="000000"/>
                </a:solidFill>
                <a:latin typeface="Consolas"/>
                <a:ea typeface="Consolas"/>
                <a:cs typeface="Consolas"/>
                <a:sym typeface="Consolas"/>
              </a:rPr>
              <a:t> </a:t>
            </a:r>
            <a:r>
              <a:rPr lang="en-US" sz="1400" b="1" i="0" u="none" strike="noStrike" cap="none">
                <a:solidFill>
                  <a:srgbClr val="7F0055"/>
                </a:solidFill>
                <a:latin typeface="Consolas"/>
                <a:ea typeface="Consolas"/>
                <a:cs typeface="Consolas"/>
                <a:sym typeface="Consolas"/>
              </a:rPr>
              <a:t>void</a:t>
            </a:r>
            <a:r>
              <a:rPr lang="en-US" sz="1400" b="1" i="0" u="none" strike="noStrike" cap="none">
                <a:solidFill>
                  <a:srgbClr val="000000"/>
                </a:solidFill>
                <a:latin typeface="Consolas"/>
                <a:ea typeface="Consolas"/>
                <a:cs typeface="Consolas"/>
                <a:sym typeface="Consolas"/>
              </a:rPr>
              <a:t> main(String[] </a:t>
            </a:r>
            <a:r>
              <a:rPr lang="en-US" sz="1400" b="1" i="0" u="none" strike="noStrike" cap="none">
                <a:solidFill>
                  <a:srgbClr val="6A3E3E"/>
                </a:solidFill>
                <a:latin typeface="Consolas"/>
                <a:ea typeface="Consolas"/>
                <a:cs typeface="Consolas"/>
                <a:sym typeface="Consolas"/>
              </a:rPr>
              <a:t>args</a:t>
            </a:r>
            <a:r>
              <a:rPr lang="en-US" sz="1400" b="1"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Manager </a:t>
            </a:r>
            <a:r>
              <a:rPr lang="en-US" sz="1400" b="0" i="0" u="none" strike="noStrike" cap="none">
                <a:solidFill>
                  <a:srgbClr val="6A3E3E"/>
                </a:solidFill>
                <a:latin typeface="Consolas"/>
                <a:ea typeface="Consolas"/>
                <a:cs typeface="Consolas"/>
                <a:sym typeface="Consolas"/>
              </a:rPr>
              <a:t>manager</a:t>
            </a:r>
            <a:r>
              <a:rPr lang="en-US" sz="1400" b="0" i="0" u="none" strike="noStrike" cap="none">
                <a:solidFill>
                  <a:srgbClr val="000000"/>
                </a:solidFill>
                <a:latin typeface="Consolas"/>
                <a:ea typeface="Consolas"/>
                <a:cs typeface="Consolas"/>
                <a:sym typeface="Consolas"/>
              </a:rPr>
              <a:t> = </a:t>
            </a:r>
            <a:r>
              <a:rPr lang="en-US" sz="1400" b="1" i="0" u="none" strike="noStrike" cap="none">
                <a:solidFill>
                  <a:srgbClr val="7F0055"/>
                </a:solidFill>
                <a:latin typeface="Consolas"/>
                <a:ea typeface="Consolas"/>
                <a:cs typeface="Consolas"/>
                <a:sym typeface="Consolas"/>
              </a:rPr>
              <a:t>new</a:t>
            </a:r>
            <a:r>
              <a:rPr lang="en-US" sz="1400" b="1" i="0" u="none" strike="noStrike" cap="none">
                <a:solidFill>
                  <a:srgbClr val="000000"/>
                </a:solidFill>
                <a:latin typeface="Consolas"/>
                <a:ea typeface="Consolas"/>
                <a:cs typeface="Consolas"/>
                <a:sym typeface="Consolas"/>
              </a:rPr>
              <a:t> Manager();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VicePresident </a:t>
            </a:r>
            <a:r>
              <a:rPr lang="en-US" sz="1400" b="0" i="0" u="none" strike="noStrike" cap="none">
                <a:solidFill>
                  <a:srgbClr val="6A3E3E"/>
                </a:solidFill>
                <a:latin typeface="Consolas"/>
                <a:ea typeface="Consolas"/>
                <a:cs typeface="Consolas"/>
                <a:sym typeface="Consolas"/>
              </a:rPr>
              <a:t>vicePresident</a:t>
            </a:r>
            <a:r>
              <a:rPr lang="en-US" sz="1400" b="0" i="0" u="none" strike="noStrike" cap="none">
                <a:solidFill>
                  <a:srgbClr val="000000"/>
                </a:solidFill>
                <a:latin typeface="Consolas"/>
                <a:ea typeface="Consolas"/>
                <a:cs typeface="Consolas"/>
                <a:sym typeface="Consolas"/>
              </a:rPr>
              <a:t> = </a:t>
            </a:r>
            <a:r>
              <a:rPr lang="en-US" sz="1400" b="1" i="0" u="none" strike="noStrike" cap="none">
                <a:solidFill>
                  <a:srgbClr val="7F0055"/>
                </a:solidFill>
                <a:latin typeface="Consolas"/>
                <a:ea typeface="Consolas"/>
                <a:cs typeface="Consolas"/>
                <a:sym typeface="Consolas"/>
              </a:rPr>
              <a:t>new</a:t>
            </a:r>
            <a:r>
              <a:rPr lang="en-US" sz="1400" b="1" i="0" u="none" strike="noStrike" cap="none">
                <a:solidFill>
                  <a:srgbClr val="000000"/>
                </a:solidFill>
                <a:latin typeface="Consolas"/>
                <a:ea typeface="Consolas"/>
                <a:cs typeface="Consolas"/>
                <a:sym typeface="Consolas"/>
              </a:rPr>
              <a:t> VicePresident();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CEO </a:t>
            </a:r>
            <a:r>
              <a:rPr lang="en-US" sz="1400" b="0" i="0" u="none" strike="noStrike" cap="none">
                <a:solidFill>
                  <a:srgbClr val="6A3E3E"/>
                </a:solidFill>
                <a:latin typeface="Consolas"/>
                <a:ea typeface="Consolas"/>
                <a:cs typeface="Consolas"/>
                <a:sym typeface="Consolas"/>
              </a:rPr>
              <a:t>ceo</a:t>
            </a:r>
            <a:r>
              <a:rPr lang="en-US" sz="1400" b="0" i="0" u="none" strike="noStrike" cap="none">
                <a:solidFill>
                  <a:srgbClr val="000000"/>
                </a:solidFill>
                <a:latin typeface="Consolas"/>
                <a:ea typeface="Consolas"/>
                <a:cs typeface="Consolas"/>
                <a:sym typeface="Consolas"/>
              </a:rPr>
              <a:t> = </a:t>
            </a:r>
            <a:r>
              <a:rPr lang="en-US" sz="1400" b="1" i="0" u="none" strike="noStrike" cap="none">
                <a:solidFill>
                  <a:srgbClr val="7F0055"/>
                </a:solidFill>
                <a:latin typeface="Consolas"/>
                <a:ea typeface="Consolas"/>
                <a:cs typeface="Consolas"/>
                <a:sym typeface="Consolas"/>
              </a:rPr>
              <a:t>new</a:t>
            </a:r>
            <a:r>
              <a:rPr lang="en-US" sz="1400" b="1" i="0" u="none" strike="noStrike" cap="none">
                <a:solidFill>
                  <a:srgbClr val="000000"/>
                </a:solidFill>
                <a:latin typeface="Consolas"/>
                <a:ea typeface="Consolas"/>
                <a:cs typeface="Consolas"/>
                <a:sym typeface="Consolas"/>
              </a:rPr>
              <a:t> CEO();</a:t>
            </a: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0" i="0" u="none" strike="noStrike" cap="none">
                <a:solidFill>
                  <a:srgbClr val="6A3E3E"/>
                </a:solidFill>
                <a:latin typeface="Consolas"/>
                <a:ea typeface="Consolas"/>
                <a:cs typeface="Consolas"/>
                <a:sym typeface="Consolas"/>
              </a:rPr>
              <a:t>manager</a:t>
            </a:r>
            <a:r>
              <a:rPr lang="en-US" sz="1400" b="0" i="0" u="none" strike="noStrike" cap="none">
                <a:solidFill>
                  <a:srgbClr val="000000"/>
                </a:solidFill>
                <a:latin typeface="Consolas"/>
                <a:ea typeface="Consolas"/>
                <a:cs typeface="Consolas"/>
                <a:sym typeface="Consolas"/>
              </a:rPr>
              <a:t>.setSuccessor(</a:t>
            </a:r>
            <a:r>
              <a:rPr lang="en-US" sz="1400" b="0" i="0" u="none" strike="noStrike" cap="none">
                <a:solidFill>
                  <a:srgbClr val="6A3E3E"/>
                </a:solidFill>
                <a:latin typeface="Consolas"/>
                <a:ea typeface="Consolas"/>
                <a:cs typeface="Consolas"/>
                <a:sym typeface="Consolas"/>
              </a:rPr>
              <a:t>vicePresident</a:t>
            </a:r>
            <a:r>
              <a:rPr lang="en-US" sz="14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0" i="0" u="none" strike="noStrike" cap="none">
                <a:solidFill>
                  <a:srgbClr val="6A3E3E"/>
                </a:solidFill>
                <a:latin typeface="Consolas"/>
                <a:ea typeface="Consolas"/>
                <a:cs typeface="Consolas"/>
                <a:sym typeface="Consolas"/>
              </a:rPr>
              <a:t>vicePresident</a:t>
            </a:r>
            <a:r>
              <a:rPr lang="en-US" sz="1400" b="0" i="0" u="none" strike="noStrike" cap="none">
                <a:solidFill>
                  <a:srgbClr val="000000"/>
                </a:solidFill>
                <a:latin typeface="Consolas"/>
                <a:ea typeface="Consolas"/>
                <a:cs typeface="Consolas"/>
                <a:sym typeface="Consolas"/>
              </a:rPr>
              <a:t>.setSuccessor(</a:t>
            </a:r>
            <a:r>
              <a:rPr lang="en-US" sz="1400" b="0" i="0" u="none" strike="noStrike" cap="none">
                <a:solidFill>
                  <a:srgbClr val="6A3E3E"/>
                </a:solidFill>
                <a:latin typeface="Consolas"/>
                <a:ea typeface="Consolas"/>
                <a:cs typeface="Consolas"/>
                <a:sym typeface="Consolas"/>
              </a:rPr>
              <a:t>ceo</a:t>
            </a:r>
            <a:r>
              <a:rPr lang="en-US" sz="1400" b="0"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0" i="0" u="none" strike="noStrike" cap="none">
                <a:solidFill>
                  <a:srgbClr val="6A3E3E"/>
                </a:solidFill>
                <a:latin typeface="Consolas"/>
                <a:ea typeface="Consolas"/>
                <a:cs typeface="Consolas"/>
                <a:sym typeface="Consolas"/>
              </a:rPr>
              <a:t>manager</a:t>
            </a:r>
            <a:r>
              <a:rPr lang="en-US" sz="1400" b="0" i="0" u="none" strike="noStrike" cap="none">
                <a:solidFill>
                  <a:srgbClr val="000000"/>
                </a:solidFill>
                <a:latin typeface="Consolas"/>
                <a:ea typeface="Consolas"/>
                <a:cs typeface="Consolas"/>
                <a:sym typeface="Consolas"/>
              </a:rPr>
              <a:t>.approve(</a:t>
            </a:r>
            <a:r>
              <a:rPr lang="en-US" sz="1400" b="1" i="0" u="none" strike="noStrike" cap="none">
                <a:solidFill>
                  <a:srgbClr val="7F0055"/>
                </a:solidFill>
                <a:latin typeface="Consolas"/>
                <a:ea typeface="Consolas"/>
                <a:cs typeface="Consolas"/>
                <a:sym typeface="Consolas"/>
              </a:rPr>
              <a:t>new</a:t>
            </a:r>
            <a:r>
              <a:rPr lang="en-US" sz="1400" b="1" i="0" u="none" strike="noStrike" cap="none">
                <a:solidFill>
                  <a:srgbClr val="000000"/>
                </a:solidFill>
                <a:latin typeface="Consolas"/>
                <a:ea typeface="Consolas"/>
                <a:cs typeface="Consolas"/>
                <a:sym typeface="Consolas"/>
              </a:rPr>
              <a:t> Transaction(2600000.0, </a:t>
            </a:r>
            <a:r>
              <a:rPr lang="en-US" sz="1400" b="1" i="0" u="none" strike="noStrike" cap="none">
                <a:solidFill>
                  <a:srgbClr val="2A00FF"/>
                </a:solidFill>
                <a:latin typeface="Consolas"/>
                <a:ea typeface="Consolas"/>
                <a:cs typeface="Consolas"/>
                <a:sym typeface="Consolas"/>
              </a:rPr>
              <a:t>"general"</a:t>
            </a:r>
            <a:r>
              <a:rPr lang="en-US" sz="14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0" i="0" u="none" strike="noStrike" cap="none">
                <a:solidFill>
                  <a:srgbClr val="6A3E3E"/>
                </a:solidFill>
                <a:latin typeface="Consolas"/>
                <a:ea typeface="Consolas"/>
                <a:cs typeface="Consolas"/>
                <a:sym typeface="Consolas"/>
              </a:rPr>
              <a:t>manager</a:t>
            </a:r>
            <a:r>
              <a:rPr lang="en-US" sz="1400" b="0" i="0" u="none" strike="noStrike" cap="none">
                <a:solidFill>
                  <a:srgbClr val="000000"/>
                </a:solidFill>
                <a:latin typeface="Consolas"/>
                <a:ea typeface="Consolas"/>
                <a:cs typeface="Consolas"/>
                <a:sym typeface="Consolas"/>
              </a:rPr>
              <a:t>.approve(</a:t>
            </a:r>
            <a:r>
              <a:rPr lang="en-US" sz="1400" b="1" i="0" u="none" strike="noStrike" cap="none">
                <a:solidFill>
                  <a:srgbClr val="7F0055"/>
                </a:solidFill>
                <a:latin typeface="Consolas"/>
                <a:ea typeface="Consolas"/>
                <a:cs typeface="Consolas"/>
                <a:sym typeface="Consolas"/>
              </a:rPr>
              <a:t>new</a:t>
            </a:r>
            <a:r>
              <a:rPr lang="en-US" sz="1400" b="1" i="0" u="none" strike="noStrike" cap="none">
                <a:solidFill>
                  <a:srgbClr val="000000"/>
                </a:solidFill>
                <a:latin typeface="Consolas"/>
                <a:ea typeface="Consolas"/>
                <a:cs typeface="Consolas"/>
                <a:sym typeface="Consolas"/>
              </a:rPr>
              <a:t> Transaction(50000.0, </a:t>
            </a:r>
            <a:r>
              <a:rPr lang="en-US" sz="1400" b="1" i="0" u="none" strike="noStrike" cap="none">
                <a:solidFill>
                  <a:srgbClr val="2A00FF"/>
                </a:solidFill>
                <a:latin typeface="Consolas"/>
                <a:ea typeface="Consolas"/>
                <a:cs typeface="Consolas"/>
                <a:sym typeface="Consolas"/>
              </a:rPr>
              <a:t>"general"</a:t>
            </a:r>
            <a:r>
              <a:rPr lang="en-US" sz="1400" b="1"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0" i="0" u="none" strike="noStrike" cap="none">
                <a:solidFill>
                  <a:srgbClr val="6A3E3E"/>
                </a:solidFill>
                <a:latin typeface="Consolas"/>
                <a:ea typeface="Consolas"/>
                <a:cs typeface="Consolas"/>
                <a:sym typeface="Consolas"/>
              </a:rPr>
              <a:t>manager</a:t>
            </a:r>
            <a:r>
              <a:rPr lang="en-US" sz="1400" b="0" i="0" u="none" strike="noStrike" cap="none">
                <a:solidFill>
                  <a:srgbClr val="000000"/>
                </a:solidFill>
                <a:latin typeface="Consolas"/>
                <a:ea typeface="Consolas"/>
                <a:cs typeface="Consolas"/>
                <a:sym typeface="Consolas"/>
              </a:rPr>
              <a:t>.approve(</a:t>
            </a:r>
            <a:r>
              <a:rPr lang="en-US" sz="1400" b="1" i="0" u="none" strike="noStrike" cap="none">
                <a:solidFill>
                  <a:srgbClr val="7F0055"/>
                </a:solidFill>
                <a:latin typeface="Consolas"/>
                <a:ea typeface="Consolas"/>
                <a:cs typeface="Consolas"/>
                <a:sym typeface="Consolas"/>
              </a:rPr>
              <a:t>new</a:t>
            </a:r>
            <a:r>
              <a:rPr lang="en-US" sz="1400" b="1" i="0" u="none" strike="noStrike" cap="none">
                <a:solidFill>
                  <a:srgbClr val="000000"/>
                </a:solidFill>
                <a:latin typeface="Consolas"/>
                <a:ea typeface="Consolas"/>
                <a:cs typeface="Consolas"/>
                <a:sym typeface="Consolas"/>
              </a:rPr>
              <a:t> Transaction(120000.0, </a:t>
            </a:r>
            <a:r>
              <a:rPr lang="en-US" sz="1400" b="1" i="0" u="none" strike="noStrike" cap="none">
                <a:solidFill>
                  <a:srgbClr val="2A00FF"/>
                </a:solidFill>
                <a:latin typeface="Consolas"/>
                <a:ea typeface="Consolas"/>
                <a:cs typeface="Consolas"/>
                <a:sym typeface="Consolas"/>
              </a:rPr>
              <a:t>"general"</a:t>
            </a:r>
            <a:r>
              <a:rPr lang="en-US" sz="14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0" i="0" u="none" strike="noStrike" cap="none">
                <a:solidFill>
                  <a:srgbClr val="6A3E3E"/>
                </a:solidFill>
                <a:latin typeface="Consolas"/>
                <a:ea typeface="Consolas"/>
                <a:cs typeface="Consolas"/>
                <a:sym typeface="Consolas"/>
              </a:rPr>
              <a:t>manager</a:t>
            </a:r>
            <a:r>
              <a:rPr lang="en-US" sz="1400" b="0" i="0" u="none" strike="noStrike" cap="none">
                <a:solidFill>
                  <a:srgbClr val="000000"/>
                </a:solidFill>
                <a:latin typeface="Consolas"/>
                <a:ea typeface="Consolas"/>
                <a:cs typeface="Consolas"/>
                <a:sym typeface="Consolas"/>
              </a:rPr>
              <a:t>.approve(</a:t>
            </a:r>
            <a:r>
              <a:rPr lang="en-US" sz="1400" b="1" i="0" u="none" strike="noStrike" cap="none">
                <a:solidFill>
                  <a:srgbClr val="7F0055"/>
                </a:solidFill>
                <a:latin typeface="Consolas"/>
                <a:ea typeface="Consolas"/>
                <a:cs typeface="Consolas"/>
                <a:sym typeface="Consolas"/>
              </a:rPr>
              <a:t>new</a:t>
            </a:r>
            <a:r>
              <a:rPr lang="en-US" sz="1400" b="1" i="0" u="none" strike="noStrike" cap="none">
                <a:solidFill>
                  <a:srgbClr val="000000"/>
                </a:solidFill>
                <a:latin typeface="Consolas"/>
                <a:ea typeface="Consolas"/>
                <a:cs typeface="Consolas"/>
                <a:sym typeface="Consolas"/>
              </a:rPr>
              <a:t> Transaction(1500000.0, </a:t>
            </a:r>
            <a:r>
              <a:rPr lang="en-US" sz="1400" b="1" i="0" u="none" strike="noStrike" cap="none">
                <a:solidFill>
                  <a:srgbClr val="2A00FF"/>
                </a:solidFill>
                <a:latin typeface="Consolas"/>
                <a:ea typeface="Consolas"/>
                <a:cs typeface="Consolas"/>
                <a:sym typeface="Consolas"/>
              </a:rPr>
              <a:t>"general"</a:t>
            </a:r>
            <a:r>
              <a:rPr lang="en-US" sz="14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a:t>
            </a:r>
            <a:r>
              <a:rPr lang="en-US" sz="1400" b="0" i="0" u="none" strike="noStrike" cap="none">
                <a:solidFill>
                  <a:srgbClr val="6A3E3E"/>
                </a:solidFill>
                <a:latin typeface="Consolas"/>
                <a:ea typeface="Consolas"/>
                <a:cs typeface="Consolas"/>
                <a:sym typeface="Consolas"/>
              </a:rPr>
              <a:t>manager</a:t>
            </a:r>
            <a:r>
              <a:rPr lang="en-US" sz="1400" b="0" i="0" u="none" strike="noStrike" cap="none">
                <a:solidFill>
                  <a:srgbClr val="000000"/>
                </a:solidFill>
                <a:latin typeface="Consolas"/>
                <a:ea typeface="Consolas"/>
                <a:cs typeface="Consolas"/>
                <a:sym typeface="Consolas"/>
              </a:rPr>
              <a:t>.approve(</a:t>
            </a:r>
            <a:r>
              <a:rPr lang="en-US" sz="1400" b="1" i="0" u="none" strike="noStrike" cap="none">
                <a:solidFill>
                  <a:srgbClr val="7F0055"/>
                </a:solidFill>
                <a:latin typeface="Consolas"/>
                <a:ea typeface="Consolas"/>
                <a:cs typeface="Consolas"/>
                <a:sym typeface="Consolas"/>
              </a:rPr>
              <a:t>new</a:t>
            </a:r>
            <a:r>
              <a:rPr lang="en-US" sz="1400" b="1" i="0" u="none" strike="noStrike" cap="none">
                <a:solidFill>
                  <a:srgbClr val="000000"/>
                </a:solidFill>
                <a:latin typeface="Consolas"/>
                <a:ea typeface="Consolas"/>
                <a:cs typeface="Consolas"/>
                <a:sym typeface="Consolas"/>
              </a:rPr>
              <a:t> Transaction(0.0, </a:t>
            </a:r>
            <a:r>
              <a:rPr lang="en-US" sz="1400" b="1" i="0" u="none" strike="noStrike" cap="none">
                <a:solidFill>
                  <a:srgbClr val="2A00FF"/>
                </a:solidFill>
                <a:latin typeface="Consolas"/>
                <a:ea typeface="Consolas"/>
                <a:cs typeface="Consolas"/>
                <a:sym typeface="Consolas"/>
              </a:rPr>
              <a:t>"general"</a:t>
            </a:r>
            <a:r>
              <a:rPr lang="en-US" sz="1400" b="1"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15"/>
          <p:cNvPicPr preferRelativeResize="0"/>
          <p:nvPr/>
        </p:nvPicPr>
        <p:blipFill rotWithShape="1">
          <a:blip r:embed="rId3">
            <a:alphaModFix/>
          </a:blip>
          <a:srcRect/>
          <a:stretch/>
        </p:blipFill>
        <p:spPr>
          <a:xfrm>
            <a:off x="467927" y="2209938"/>
            <a:ext cx="8610600" cy="1781175"/>
          </a:xfrm>
          <a:prstGeom prst="rect">
            <a:avLst/>
          </a:prstGeom>
          <a:noFill/>
          <a:ln>
            <a:noFill/>
          </a:ln>
        </p:spPr>
      </p:pic>
      <p:sp>
        <p:nvSpPr>
          <p:cNvPr id="248" name="Google Shape;248;p15"/>
          <p:cNvSpPr txBox="1"/>
          <p:nvPr/>
        </p:nvSpPr>
        <p:spPr>
          <a:xfrm>
            <a:off x="514905" y="1837678"/>
            <a:ext cx="84337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Output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61"/>
          <p:cNvSpPr txBox="1">
            <a:spLocks noGrp="1"/>
          </p:cNvSpPr>
          <p:nvPr>
            <p:ph type="body" idx="4294967295"/>
          </p:nvPr>
        </p:nvSpPr>
        <p:spPr>
          <a:xfrm>
            <a:off x="275208" y="1511790"/>
            <a:ext cx="9880846" cy="4351338"/>
          </a:xfrm>
          <a:prstGeom prst="rect">
            <a:avLst/>
          </a:prstGeom>
          <a:noFill/>
          <a:ln>
            <a:noFill/>
          </a:ln>
        </p:spPr>
        <p:txBody>
          <a:bodyPr spcFirstLastPara="1" wrap="square" lIns="91425" tIns="45700" rIns="91425" bIns="45700" anchor="t" anchorCtr="0">
            <a:normAutofit fontScale="92500" lnSpcReduction="20000"/>
          </a:bodyPr>
          <a:lstStyle/>
          <a:p>
            <a:pPr marL="50800" lvl="0" indent="0" algn="l" rtl="0">
              <a:lnSpc>
                <a:spcPct val="90000"/>
              </a:lnSpc>
              <a:spcBef>
                <a:spcPts val="1000"/>
              </a:spcBef>
              <a:spcAft>
                <a:spcPts val="0"/>
              </a:spcAft>
              <a:buSzPct val="151351"/>
              <a:buNone/>
            </a:pPr>
            <a:r>
              <a:rPr lang="en-US" sz="2000" b="1">
                <a:solidFill>
                  <a:schemeClr val="dk1"/>
                </a:solidFill>
              </a:rPr>
              <a:t>Scenario</a:t>
            </a:r>
            <a:endParaRPr/>
          </a:p>
          <a:p>
            <a:pPr marL="50800" lvl="0" indent="0" algn="l" rtl="0">
              <a:lnSpc>
                <a:spcPct val="90000"/>
              </a:lnSpc>
              <a:spcBef>
                <a:spcPts val="1000"/>
              </a:spcBef>
              <a:spcAft>
                <a:spcPts val="0"/>
              </a:spcAft>
              <a:buSzPct val="151351"/>
              <a:buNone/>
            </a:pPr>
            <a:r>
              <a:rPr lang="en-US" sz="2000">
                <a:solidFill>
                  <a:schemeClr val="dk1"/>
                </a:solidFill>
              </a:rPr>
              <a:t>An enterprise has been getting more email than they can handle. The </a:t>
            </a:r>
            <a:r>
              <a:rPr lang="en-US" sz="2000"/>
              <a:t>enterprise</a:t>
            </a:r>
            <a:r>
              <a:rPr lang="en-US" sz="2000">
                <a:solidFill>
                  <a:schemeClr val="dk1"/>
                </a:solidFill>
              </a:rPr>
              <a:t> gets 4 types of e-mail</a:t>
            </a:r>
            <a:r>
              <a:rPr lang="en-US" sz="2000"/>
              <a:t>.</a:t>
            </a:r>
            <a:endParaRPr sz="2000"/>
          </a:p>
          <a:p>
            <a:pPr marL="50800" lvl="0" indent="0" algn="l" rtl="0">
              <a:lnSpc>
                <a:spcPct val="90000"/>
              </a:lnSpc>
              <a:spcBef>
                <a:spcPts val="1000"/>
              </a:spcBef>
              <a:spcAft>
                <a:spcPts val="0"/>
              </a:spcAft>
              <a:buSzPct val="151351"/>
              <a:buNone/>
            </a:pPr>
            <a:r>
              <a:rPr lang="en-US" sz="2000">
                <a:solidFill>
                  <a:schemeClr val="dk1"/>
                </a:solidFill>
              </a:rPr>
              <a:t>They </a:t>
            </a:r>
            <a:r>
              <a:rPr lang="en-US" sz="2000"/>
              <a:t>are</a:t>
            </a:r>
            <a:r>
              <a:rPr lang="en-US" sz="2000">
                <a:solidFill>
                  <a:schemeClr val="dk1"/>
                </a:solidFill>
              </a:rPr>
              <a:t>: </a:t>
            </a:r>
            <a:endParaRPr/>
          </a:p>
          <a:p>
            <a:pPr marL="457200" lvl="0" indent="-391983" algn="l" rtl="0">
              <a:lnSpc>
                <a:spcPct val="90000"/>
              </a:lnSpc>
              <a:spcBef>
                <a:spcPts val="1000"/>
              </a:spcBef>
              <a:spcAft>
                <a:spcPts val="0"/>
              </a:spcAft>
              <a:buSzPct val="151351"/>
              <a:buFont typeface="Noto Sans Symbols"/>
              <a:buChar char="▪"/>
            </a:pPr>
            <a:r>
              <a:rPr lang="en-US" sz="2000"/>
              <a:t>Fan mail with complements</a:t>
            </a:r>
            <a:r>
              <a:rPr lang="en-US" sz="2000">
                <a:solidFill>
                  <a:schemeClr val="dk1"/>
                </a:solidFill>
              </a:rPr>
              <a:t>, </a:t>
            </a:r>
            <a:endParaRPr/>
          </a:p>
          <a:p>
            <a:pPr marL="457200" lvl="0" indent="-391983" algn="l" rtl="0">
              <a:lnSpc>
                <a:spcPct val="90000"/>
              </a:lnSpc>
              <a:spcBef>
                <a:spcPts val="1000"/>
              </a:spcBef>
              <a:spcAft>
                <a:spcPts val="0"/>
              </a:spcAft>
              <a:buSzPct val="151351"/>
              <a:buFont typeface="Noto Sans Symbols"/>
              <a:buChar char="▪"/>
            </a:pPr>
            <a:r>
              <a:rPr lang="en-US" sz="2000">
                <a:solidFill>
                  <a:schemeClr val="dk1"/>
                </a:solidFill>
              </a:rPr>
              <a:t>Complaints, </a:t>
            </a:r>
            <a:endParaRPr/>
          </a:p>
          <a:p>
            <a:pPr marL="457200" lvl="0" indent="-391983" algn="l" rtl="0">
              <a:lnSpc>
                <a:spcPct val="90000"/>
              </a:lnSpc>
              <a:spcBef>
                <a:spcPts val="1000"/>
              </a:spcBef>
              <a:spcAft>
                <a:spcPts val="0"/>
              </a:spcAft>
              <a:buSzPct val="151351"/>
              <a:buFont typeface="Noto Sans Symbols"/>
              <a:buChar char="▪"/>
            </a:pPr>
            <a:r>
              <a:rPr lang="en-US" sz="2000">
                <a:solidFill>
                  <a:schemeClr val="dk1"/>
                </a:solidFill>
              </a:rPr>
              <a:t> Requests for new </a:t>
            </a:r>
            <a:r>
              <a:rPr lang="en-US" sz="2000"/>
              <a:t>features</a:t>
            </a:r>
            <a:r>
              <a:rPr lang="en-US" sz="2000">
                <a:solidFill>
                  <a:schemeClr val="dk1"/>
                </a:solidFill>
              </a:rPr>
              <a:t>, </a:t>
            </a:r>
            <a:endParaRPr/>
          </a:p>
          <a:p>
            <a:pPr marL="457200" lvl="0" indent="-391983" algn="l" rtl="0">
              <a:lnSpc>
                <a:spcPct val="90000"/>
              </a:lnSpc>
              <a:spcBef>
                <a:spcPts val="1000"/>
              </a:spcBef>
              <a:spcAft>
                <a:spcPts val="0"/>
              </a:spcAft>
              <a:buSzPct val="151351"/>
              <a:buFont typeface="Noto Sans Symbols"/>
              <a:buChar char="▪"/>
            </a:pPr>
            <a:r>
              <a:rPr lang="en-US" sz="2000">
                <a:solidFill>
                  <a:schemeClr val="dk1"/>
                </a:solidFill>
              </a:rPr>
              <a:t>Spam.</a:t>
            </a:r>
            <a:endParaRPr/>
          </a:p>
          <a:p>
            <a:pPr marL="50800" lvl="0" indent="0" algn="l" rtl="0">
              <a:lnSpc>
                <a:spcPct val="90000"/>
              </a:lnSpc>
              <a:spcBef>
                <a:spcPts val="1000"/>
              </a:spcBef>
              <a:spcAft>
                <a:spcPts val="0"/>
              </a:spcAft>
              <a:buSzPct val="151351"/>
              <a:buNone/>
            </a:pPr>
            <a:endParaRPr sz="2000">
              <a:solidFill>
                <a:schemeClr val="dk1"/>
              </a:solidFill>
            </a:endParaRPr>
          </a:p>
          <a:p>
            <a:pPr marL="50800" lvl="0" indent="0" algn="l" rtl="0">
              <a:lnSpc>
                <a:spcPct val="90000"/>
              </a:lnSpc>
              <a:spcBef>
                <a:spcPts val="1000"/>
              </a:spcBef>
              <a:spcAft>
                <a:spcPts val="0"/>
              </a:spcAft>
              <a:buSzPct val="151351"/>
              <a:buNone/>
            </a:pPr>
            <a:r>
              <a:rPr lang="en-US" sz="2000">
                <a:solidFill>
                  <a:schemeClr val="dk1"/>
                </a:solidFill>
              </a:rPr>
              <a:t>Your task: </a:t>
            </a:r>
            <a:endParaRPr/>
          </a:p>
          <a:p>
            <a:pPr marL="457200" lvl="0" indent="-391983" algn="l" rtl="0">
              <a:lnSpc>
                <a:spcPct val="90000"/>
              </a:lnSpc>
              <a:spcBef>
                <a:spcPts val="1000"/>
              </a:spcBef>
              <a:spcAft>
                <a:spcPts val="0"/>
              </a:spcAft>
              <a:buSzPct val="151351"/>
              <a:buFont typeface="Noto Sans Symbols"/>
              <a:buChar char="▪"/>
            </a:pPr>
            <a:r>
              <a:rPr lang="en-US" sz="2000">
                <a:solidFill>
                  <a:schemeClr val="dk1"/>
                </a:solidFill>
              </a:rPr>
              <a:t> The enterprise has already written the AI detectors that can tell whether an email is fan, complaint, request or spam, </a:t>
            </a:r>
            <a:endParaRPr/>
          </a:p>
          <a:p>
            <a:pPr marL="457200" lvl="0" indent="-391983" algn="l" rtl="0">
              <a:lnSpc>
                <a:spcPct val="90000"/>
              </a:lnSpc>
              <a:spcBef>
                <a:spcPts val="1000"/>
              </a:spcBef>
              <a:spcAft>
                <a:spcPts val="0"/>
              </a:spcAft>
              <a:buSzPct val="151351"/>
              <a:buFont typeface="Noto Sans Symbols"/>
              <a:buChar char="▪"/>
            </a:pPr>
            <a:r>
              <a:rPr lang="en-US" sz="2000">
                <a:solidFill>
                  <a:schemeClr val="dk1"/>
                </a:solidFill>
              </a:rPr>
              <a:t> You need to create a design that can use the detectors to handle incoming email.</a:t>
            </a:r>
            <a:endParaRPr/>
          </a:p>
        </p:txBody>
      </p:sp>
      <p:sp>
        <p:nvSpPr>
          <p:cNvPr id="168" name="Google Shape;168;p61"/>
          <p:cNvSpPr txBox="1"/>
          <p:nvPr/>
        </p:nvSpPr>
        <p:spPr>
          <a:xfrm>
            <a:off x="106532" y="749130"/>
            <a:ext cx="10409068" cy="544749"/>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00000"/>
              </a:buClr>
              <a:buSzPts val="4400"/>
              <a:buFont typeface="Calibri"/>
              <a:buNone/>
            </a:pPr>
            <a:r>
              <a:rPr lang="en-US" sz="2400" b="1" i="0" u="none" strike="noStrike" cap="none" dirty="0">
                <a:solidFill>
                  <a:srgbClr val="C55A11"/>
                </a:solidFill>
                <a:latin typeface="Calibri"/>
                <a:ea typeface="Calibri"/>
                <a:cs typeface="Calibri"/>
                <a:sym typeface="Calibri"/>
              </a:rPr>
              <a:t> Example – Scenario </a:t>
            </a:r>
            <a:r>
              <a:rPr lang="en-US" sz="2400" b="1" i="0" u="none" strike="noStrike" cap="none" dirty="0" smtClean="0">
                <a:solidFill>
                  <a:srgbClr val="C55A11"/>
                </a:solidFill>
                <a:latin typeface="Calibri"/>
                <a:ea typeface="Calibri"/>
                <a:cs typeface="Calibri"/>
                <a:sym typeface="Calibri"/>
              </a:rPr>
              <a:t>2</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108610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60"/>
          <p:cNvPicPr preferRelativeResize="0"/>
          <p:nvPr/>
        </p:nvPicPr>
        <p:blipFill rotWithShape="1">
          <a:blip r:embed="rId3">
            <a:alphaModFix/>
          </a:blip>
          <a:srcRect/>
          <a:stretch/>
        </p:blipFill>
        <p:spPr>
          <a:xfrm>
            <a:off x="175098" y="1447707"/>
            <a:ext cx="8977780" cy="5258700"/>
          </a:xfrm>
          <a:prstGeom prst="rect">
            <a:avLst/>
          </a:prstGeom>
          <a:noFill/>
          <a:ln>
            <a:noFill/>
          </a:ln>
        </p:spPr>
      </p:pic>
    </p:spTree>
    <p:extLst>
      <p:ext uri="{BB962C8B-B14F-4D97-AF65-F5344CB8AC3E}">
        <p14:creationId xmlns:p14="http://schemas.microsoft.com/office/powerpoint/2010/main" val="2937340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53"/>
          <p:cNvSpPr txBox="1"/>
          <p:nvPr/>
        </p:nvSpPr>
        <p:spPr>
          <a:xfrm>
            <a:off x="179960" y="1464332"/>
            <a:ext cx="9489300" cy="3785611"/>
          </a:xfrm>
          <a:prstGeom prst="rect">
            <a:avLst/>
          </a:prstGeom>
          <a:noFill/>
          <a:ln>
            <a:noFill/>
          </a:ln>
        </p:spPr>
        <p:txBody>
          <a:bodyPr spcFirstLastPara="1" wrap="square" lIns="91425" tIns="45700" rIns="91425" bIns="45700" anchor="t" anchorCtr="0">
            <a:spAutoFit/>
          </a:bodyPr>
          <a:lstStyle/>
          <a:p>
            <a:pPr marL="101600" marR="0" lvl="0" indent="0" algn="l" rtl="0">
              <a:lnSpc>
                <a:spcPct val="150000"/>
              </a:lnSpc>
              <a:spcBef>
                <a:spcPts val="0"/>
              </a:spcBef>
              <a:spcAft>
                <a:spcPts val="0"/>
              </a:spcAft>
              <a:buNone/>
            </a:pPr>
            <a:r>
              <a:rPr lang="en-US" sz="2000" b="1" i="0" u="none" strike="noStrike" cap="none">
                <a:solidFill>
                  <a:srgbClr val="000000"/>
                </a:solidFill>
                <a:latin typeface="Calibri"/>
                <a:ea typeface="Calibri"/>
                <a:cs typeface="Calibri"/>
                <a:sym typeface="Calibri"/>
              </a:rPr>
              <a:t>Reduced Coupling </a:t>
            </a:r>
            <a:endParaRPr/>
          </a:p>
          <a:p>
            <a:pPr marL="4445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Objects are free from knowing what object handles the request </a:t>
            </a:r>
            <a:endParaRPr/>
          </a:p>
          <a:p>
            <a:pPr marL="101600" marR="0" lvl="0" indent="0" algn="l" rtl="0">
              <a:lnSpc>
                <a:spcPct val="150000"/>
              </a:lnSpc>
              <a:spcBef>
                <a:spcPts val="0"/>
              </a:spcBef>
              <a:spcAft>
                <a:spcPts val="0"/>
              </a:spcAft>
              <a:buNone/>
            </a:pPr>
            <a:r>
              <a:rPr lang="en-US" sz="2000" b="1" i="0" u="none" strike="noStrike" cap="none">
                <a:solidFill>
                  <a:srgbClr val="000000"/>
                </a:solidFill>
                <a:latin typeface="Calibri"/>
                <a:ea typeface="Calibri"/>
                <a:cs typeface="Calibri"/>
                <a:sym typeface="Calibri"/>
              </a:rPr>
              <a:t>Added Flexibility in assigning responsibilities to objects </a:t>
            </a:r>
            <a:endParaRPr/>
          </a:p>
          <a:p>
            <a:pPr marL="4445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Can change chain at runtime </a:t>
            </a:r>
            <a:endParaRPr/>
          </a:p>
          <a:p>
            <a:pPr marL="4445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Can subclass for special handlers </a:t>
            </a:r>
            <a:endParaRPr/>
          </a:p>
          <a:p>
            <a:pPr marL="101600" marR="0" lvl="0" indent="0" algn="l" rtl="0">
              <a:lnSpc>
                <a:spcPct val="150000"/>
              </a:lnSpc>
              <a:spcBef>
                <a:spcPts val="0"/>
              </a:spcBef>
              <a:spcAft>
                <a:spcPts val="0"/>
              </a:spcAft>
              <a:buNone/>
            </a:pPr>
            <a:r>
              <a:rPr lang="en-US" sz="2000" b="1" i="0" u="none" strike="noStrike" cap="none">
                <a:solidFill>
                  <a:srgbClr val="000000"/>
                </a:solidFill>
                <a:latin typeface="Calibri"/>
                <a:ea typeface="Calibri"/>
                <a:cs typeface="Calibri"/>
                <a:sym typeface="Calibri"/>
              </a:rPr>
              <a:t>Receipt is guaranteed </a:t>
            </a:r>
            <a:endParaRPr/>
          </a:p>
          <a:p>
            <a:pPr marL="4445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Request could fall off the chain </a:t>
            </a:r>
            <a:endParaRPr/>
          </a:p>
          <a:p>
            <a:pPr marL="444500" marR="0" lvl="0" indent="-342900" algn="l" rtl="0">
              <a:lnSpc>
                <a:spcPct val="15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Request could be dropped with bad chain</a:t>
            </a:r>
            <a:endParaRPr sz="2000" b="0" i="0" u="none" strike="noStrike" cap="none">
              <a:solidFill>
                <a:srgbClr val="000000"/>
              </a:solidFill>
              <a:latin typeface="Calibri"/>
              <a:ea typeface="Calibri"/>
              <a:cs typeface="Calibri"/>
              <a:sym typeface="Calibri"/>
            </a:endParaRPr>
          </a:p>
        </p:txBody>
      </p:sp>
      <p:sp>
        <p:nvSpPr>
          <p:cNvPr id="179" name="Google Shape;179;p53"/>
          <p:cNvSpPr txBox="1"/>
          <p:nvPr/>
        </p:nvSpPr>
        <p:spPr>
          <a:xfrm>
            <a:off x="173948" y="899886"/>
            <a:ext cx="63809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C55A11"/>
                </a:solidFill>
                <a:latin typeface="Calibri"/>
                <a:ea typeface="Calibri"/>
                <a:cs typeface="Calibri"/>
                <a:sym typeface="Calibri"/>
              </a:rPr>
              <a:t>Consequences</a:t>
            </a:r>
            <a:endParaRPr sz="1400" b="1"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00985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59"/>
          <p:cNvSpPr txBox="1">
            <a:spLocks noGrp="1"/>
          </p:cNvSpPr>
          <p:nvPr>
            <p:ph type="body" idx="4294967295"/>
          </p:nvPr>
        </p:nvSpPr>
        <p:spPr>
          <a:xfrm>
            <a:off x="97277" y="1387879"/>
            <a:ext cx="10515600" cy="5100469"/>
          </a:xfrm>
          <a:prstGeom prst="rect">
            <a:avLst/>
          </a:prstGeom>
          <a:noFill/>
          <a:ln>
            <a:noFill/>
          </a:ln>
        </p:spPr>
        <p:txBody>
          <a:bodyPr spcFirstLastPara="1" wrap="square" lIns="91425" tIns="45700" rIns="91425" bIns="45700" anchor="t" anchorCtr="0">
            <a:normAutofit/>
          </a:bodyPr>
          <a:lstStyle/>
          <a:p>
            <a:pPr marL="76200" lvl="0" indent="0" algn="just" rtl="0">
              <a:lnSpc>
                <a:spcPct val="200000"/>
              </a:lnSpc>
              <a:spcBef>
                <a:spcPts val="1000"/>
              </a:spcBef>
              <a:spcAft>
                <a:spcPts val="0"/>
              </a:spcAft>
              <a:buSzPts val="2800"/>
              <a:buNone/>
            </a:pPr>
            <a:r>
              <a:rPr lang="en-US" sz="2000" b="1">
                <a:solidFill>
                  <a:srgbClr val="FF0000"/>
                </a:solidFill>
              </a:rPr>
              <a:t>Use Chain of Responsibility </a:t>
            </a:r>
            <a:endParaRPr/>
          </a:p>
          <a:p>
            <a:pPr marL="76200" lvl="0" indent="0" algn="just" rtl="0">
              <a:lnSpc>
                <a:spcPct val="200000"/>
              </a:lnSpc>
              <a:spcBef>
                <a:spcPts val="1000"/>
              </a:spcBef>
              <a:spcAft>
                <a:spcPts val="0"/>
              </a:spcAft>
              <a:buSzPts val="2800"/>
              <a:buNone/>
            </a:pPr>
            <a:r>
              <a:rPr lang="en-US" sz="2000" b="1">
                <a:solidFill>
                  <a:srgbClr val="FF0000"/>
                </a:solidFill>
              </a:rPr>
              <a:t>when </a:t>
            </a:r>
            <a:endParaRPr/>
          </a:p>
          <a:p>
            <a:pPr marL="419100" lvl="0" indent="-342900" algn="just" rtl="0">
              <a:lnSpc>
                <a:spcPct val="200000"/>
              </a:lnSpc>
              <a:spcBef>
                <a:spcPts val="1000"/>
              </a:spcBef>
              <a:spcAft>
                <a:spcPts val="0"/>
              </a:spcAft>
              <a:buSzPts val="2800"/>
              <a:buFont typeface="Noto Sans Symbols"/>
              <a:buChar char="▪"/>
            </a:pPr>
            <a:r>
              <a:rPr lang="en-US" sz="2000">
                <a:solidFill>
                  <a:schemeClr val="dk1"/>
                </a:solidFill>
              </a:rPr>
              <a:t>More than one object may handle a request and the handler isn’t known a priori. </a:t>
            </a:r>
            <a:endParaRPr/>
          </a:p>
          <a:p>
            <a:pPr marL="419100" lvl="0" indent="-342900" algn="just" rtl="0">
              <a:lnSpc>
                <a:spcPct val="200000"/>
              </a:lnSpc>
              <a:spcBef>
                <a:spcPts val="1000"/>
              </a:spcBef>
              <a:spcAft>
                <a:spcPts val="0"/>
              </a:spcAft>
              <a:buSzPts val="2800"/>
              <a:buFont typeface="Noto Sans Symbols"/>
              <a:buChar char="▪"/>
            </a:pPr>
            <a:r>
              <a:rPr lang="en-US" sz="2000">
                <a:solidFill>
                  <a:schemeClr val="dk1"/>
                </a:solidFill>
              </a:rPr>
              <a:t>You want to issue a request to one of several objects without specifying the receiver explicitly </a:t>
            </a:r>
            <a:endParaRPr/>
          </a:p>
          <a:p>
            <a:pPr marL="419100" lvl="0" indent="-342900" algn="just" rtl="0">
              <a:lnSpc>
                <a:spcPct val="200000"/>
              </a:lnSpc>
              <a:spcBef>
                <a:spcPts val="1000"/>
              </a:spcBef>
              <a:spcAft>
                <a:spcPts val="0"/>
              </a:spcAft>
              <a:buSzPts val="2800"/>
              <a:buFont typeface="Noto Sans Symbols"/>
              <a:buChar char="▪"/>
            </a:pPr>
            <a:r>
              <a:rPr lang="en-US" sz="2000">
                <a:solidFill>
                  <a:schemeClr val="dk1"/>
                </a:solidFill>
              </a:rPr>
              <a:t>The Set of objects than can handle a request should be specified dynamically</a:t>
            </a:r>
            <a:endParaRPr sz="2400"/>
          </a:p>
        </p:txBody>
      </p:sp>
      <p:sp>
        <p:nvSpPr>
          <p:cNvPr id="185" name="Google Shape;185;p59"/>
          <p:cNvSpPr txBox="1">
            <a:spLocks noGrp="1"/>
          </p:cNvSpPr>
          <p:nvPr>
            <p:ph type="title" idx="4294967295"/>
          </p:nvPr>
        </p:nvSpPr>
        <p:spPr>
          <a:xfrm>
            <a:off x="0" y="719091"/>
            <a:ext cx="4518734" cy="59480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000000"/>
              </a:buClr>
              <a:buSzPts val="4400"/>
              <a:buNone/>
            </a:pPr>
            <a:r>
              <a:rPr lang="en-US" sz="2400" b="1">
                <a:solidFill>
                  <a:srgbClr val="C55A11"/>
                </a:solidFill>
              </a:rPr>
              <a:t>  Applicability</a:t>
            </a:r>
            <a:endParaRPr/>
          </a:p>
        </p:txBody>
      </p:sp>
    </p:spTree>
    <p:extLst>
      <p:ext uri="{BB962C8B-B14F-4D97-AF65-F5344CB8AC3E}">
        <p14:creationId xmlns:p14="http://schemas.microsoft.com/office/powerpoint/2010/main" val="796020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64"/>
          <p:cNvSpPr txBox="1"/>
          <p:nvPr/>
        </p:nvSpPr>
        <p:spPr>
          <a:xfrm>
            <a:off x="233475" y="1384350"/>
            <a:ext cx="10220700" cy="51717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Benefits:</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Decouples the sender of the request and its receivers,</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Simplifies your object because it doesn’t have to know the chain’s structure and keep direct reference to its members,</a:t>
            </a:r>
            <a:endParaRPr/>
          </a:p>
          <a:p>
            <a:pPr marL="342900" marR="0" lvl="0" indent="-342900" algn="just"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Allows you to add or remove responsibilities dynamically by changing the members or the order of the chain. </a:t>
            </a:r>
            <a:endParaRPr/>
          </a:p>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Uses:</a:t>
            </a:r>
            <a:endParaRPr/>
          </a:p>
          <a:p>
            <a:pPr marL="342900" marR="0" lvl="0" indent="-342900" algn="just" rtl="0">
              <a:lnSpc>
                <a:spcPct val="15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Commonly used in Windows systems to handle events like mouse clicks and keyboard events.</a:t>
            </a:r>
            <a:endParaRPr sz="2000" b="0" i="0" u="none" strike="noStrike" cap="none">
              <a:solidFill>
                <a:srgbClr val="000000"/>
              </a:solidFill>
              <a:latin typeface="Calibri"/>
              <a:ea typeface="Calibri"/>
              <a:cs typeface="Calibri"/>
              <a:sym typeface="Calibri"/>
            </a:endParaRPr>
          </a:p>
          <a:p>
            <a:pPr marL="342900" marR="0" lvl="0" indent="-342900" algn="just" rtl="0">
              <a:lnSpc>
                <a:spcPct val="150000"/>
              </a:lnSpc>
              <a:spcBef>
                <a:spcPts val="0"/>
              </a:spcBef>
              <a:spcAft>
                <a:spcPts val="0"/>
              </a:spcAft>
              <a:buSzPts val="2000"/>
              <a:buFont typeface="Calibri"/>
              <a:buChar char="▪"/>
            </a:pPr>
            <a:r>
              <a:rPr lang="en-US" sz="2000">
                <a:latin typeface="Calibri"/>
                <a:ea typeface="Calibri"/>
                <a:cs typeface="Calibri"/>
                <a:sym typeface="Calibri"/>
              </a:rPr>
              <a:t>In java it is used in handling chain of Exceptions</a:t>
            </a:r>
            <a:endParaRPr sz="2000">
              <a:latin typeface="Calibri"/>
              <a:ea typeface="Calibri"/>
              <a:cs typeface="Calibri"/>
              <a:sym typeface="Calibri"/>
            </a:endParaRPr>
          </a:p>
          <a:p>
            <a:pPr marL="0" marR="0" lvl="0" indent="0" algn="just" rtl="0">
              <a:lnSpc>
                <a:spcPct val="150000"/>
              </a:lnSpc>
              <a:spcBef>
                <a:spcPts val="0"/>
              </a:spcBef>
              <a:spcAft>
                <a:spcPts val="0"/>
              </a:spcAft>
              <a:buNone/>
            </a:pPr>
            <a:r>
              <a:rPr lang="en-US" sz="2000" b="1" i="0" u="none" strike="noStrike" cap="none">
                <a:solidFill>
                  <a:srgbClr val="000000"/>
                </a:solidFill>
                <a:latin typeface="Calibri"/>
                <a:ea typeface="Calibri"/>
                <a:cs typeface="Calibri"/>
                <a:sym typeface="Calibri"/>
              </a:rPr>
              <a:t>Drawbacks:</a:t>
            </a:r>
            <a:endParaRPr/>
          </a:p>
          <a:p>
            <a:pPr marL="342900" marR="0" lvl="0" indent="-342900" algn="just" rtl="0">
              <a:lnSpc>
                <a:spcPct val="15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Execution of the request isn’t guaranteed; it may fall off the end of the chain if no object handles it (this can be an advantage or a disadvantage),</a:t>
            </a:r>
            <a:endParaRPr/>
          </a:p>
          <a:p>
            <a:pPr marL="342900" marR="0" lvl="0" indent="-342900" algn="just" rtl="0">
              <a:lnSpc>
                <a:spcPct val="15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Can be hard to observe the runtime characteristics and debug.</a:t>
            </a:r>
            <a:endParaRPr/>
          </a:p>
        </p:txBody>
      </p:sp>
      <p:sp>
        <p:nvSpPr>
          <p:cNvPr id="254" name="Google Shape;254;p64"/>
          <p:cNvSpPr txBox="1"/>
          <p:nvPr/>
        </p:nvSpPr>
        <p:spPr>
          <a:xfrm>
            <a:off x="233464" y="872380"/>
            <a:ext cx="609924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55A11"/>
                </a:solidFill>
                <a:latin typeface="Arial"/>
                <a:ea typeface="Arial"/>
                <a:cs typeface="Arial"/>
                <a:sym typeface="Arial"/>
              </a:rPr>
              <a:t>Benefits, Uses and Drawbacks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124442db77d_0_1"/>
          <p:cNvSpPr txBox="1"/>
          <p:nvPr/>
        </p:nvSpPr>
        <p:spPr>
          <a:xfrm>
            <a:off x="367400" y="1624700"/>
            <a:ext cx="8326800" cy="213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b="1">
                <a:solidFill>
                  <a:schemeClr val="dk1"/>
                </a:solidFill>
              </a:rPr>
              <a:t>Text Reference</a:t>
            </a:r>
            <a:endParaRPr b="1">
              <a:solidFill>
                <a:schemeClr val="dk1"/>
              </a:solidFill>
            </a:endParaRPr>
          </a:p>
          <a:p>
            <a:pPr marL="0" lvl="0" indent="0" algn="l" rtl="0">
              <a:lnSpc>
                <a:spcPct val="115000"/>
              </a:lnSpc>
              <a:spcBef>
                <a:spcPts val="0"/>
              </a:spcBef>
              <a:spcAft>
                <a:spcPts val="0"/>
              </a:spcAft>
              <a:buNone/>
            </a:pPr>
            <a:r>
              <a:rPr lang="en-US">
                <a:solidFill>
                  <a:schemeClr val="dk1"/>
                </a:solidFill>
              </a:rPr>
              <a:t>      </a:t>
            </a:r>
            <a:endParaRPr>
              <a:solidFill>
                <a:schemeClr val="dk1"/>
              </a:solidFill>
            </a:endParaRPr>
          </a:p>
          <a:p>
            <a:pPr marL="0" lvl="0" indent="0" algn="l" rtl="0">
              <a:lnSpc>
                <a:spcPct val="115000"/>
              </a:lnSpc>
              <a:spcBef>
                <a:spcPts val="0"/>
              </a:spcBef>
              <a:spcAft>
                <a:spcPts val="0"/>
              </a:spcAft>
              <a:buNone/>
            </a:pPr>
            <a:r>
              <a:rPr lang="en-US">
                <a:solidFill>
                  <a:schemeClr val="dk1"/>
                </a:solidFill>
              </a:rPr>
              <a:t>      Design Patterns: Elements of Reusable Object-Oriented Software, GOF</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US" b="1">
                <a:solidFill>
                  <a:schemeClr val="dk1"/>
                </a:solidFill>
              </a:rPr>
              <a:t>Web Reference</a:t>
            </a:r>
            <a:endParaRPr b="1">
              <a:solidFill>
                <a:schemeClr val="dk1"/>
              </a:solidFill>
            </a:endParaRPr>
          </a:p>
          <a:p>
            <a:pPr marL="0" lvl="0" indent="0" algn="l" rtl="0">
              <a:lnSpc>
                <a:spcPct val="115000"/>
              </a:lnSpc>
              <a:spcBef>
                <a:spcPts val="0"/>
              </a:spcBef>
              <a:spcAft>
                <a:spcPts val="0"/>
              </a:spcAft>
              <a:buNone/>
            </a:pPr>
            <a:r>
              <a:rPr lang="en-US">
                <a:solidFill>
                  <a:schemeClr val="dk1"/>
                </a:solidFill>
              </a:rPr>
              <a:t> </a:t>
            </a:r>
            <a:r>
              <a:rPr lang="en-US">
                <a:solidFill>
                  <a:schemeClr val="dk1"/>
                </a:solidFill>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US" u="sng">
                <a:solidFill>
                  <a:schemeClr val="hlink"/>
                </a:solidFill>
                <a:hlinkClick r:id="rId3"/>
              </a:rPr>
              <a:t>https://www.cs.uah.edu/~rcoleman/CS307/DesignPatterns/DP17-ChainOfResponsibility.html</a:t>
            </a:r>
            <a:endParaRPr u="sng">
              <a:solidFill>
                <a:schemeClr val="hlink"/>
              </a:solidFill>
            </a:endParaRPr>
          </a:p>
          <a:p>
            <a:pPr marL="0" lvl="0" indent="0" algn="l" rtl="0">
              <a:lnSpc>
                <a:spcPct val="115000"/>
              </a:lnSpc>
              <a:spcBef>
                <a:spcPts val="0"/>
              </a:spcBef>
              <a:spcAft>
                <a:spcPts val="0"/>
              </a:spcAft>
              <a:buNone/>
            </a:pPr>
            <a:r>
              <a:rPr lang="en-US">
                <a:solidFill>
                  <a:schemeClr val="dk1"/>
                </a:solidFill>
              </a:rPr>
              <a:t> </a:t>
            </a:r>
            <a:r>
              <a:rPr lang="en-US">
                <a:solidFill>
                  <a:schemeClr val="dk1"/>
                </a:solidFill>
                <a:uFill>
                  <a:noFill/>
                </a:uFil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US" u="sng">
                <a:solidFill>
                  <a:schemeClr val="hlink"/>
                </a:solidFill>
                <a:hlinkClick r:id="rId4"/>
              </a:rPr>
              <a:t>https://refactoring.guru/design-patterns</a:t>
            </a:r>
            <a:endParaRPr u="sng">
              <a:solidFill>
                <a:schemeClr val="hlink"/>
              </a:solidFill>
            </a:endParaRPr>
          </a:p>
          <a:p>
            <a:pPr marL="0" lvl="0" indent="0" algn="l" rtl="0">
              <a:lnSpc>
                <a:spcPct val="115000"/>
              </a:lnSpc>
              <a:spcBef>
                <a:spcPts val="0"/>
              </a:spcBef>
              <a:spcAft>
                <a:spcPts val="0"/>
              </a:spcAft>
              <a:buNone/>
            </a:pPr>
            <a:r>
              <a:rPr lang="en-US">
                <a:solidFill>
                  <a:schemeClr val="dk1"/>
                </a:solidFill>
              </a:rPr>
              <a:t> </a:t>
            </a:r>
            <a:r>
              <a:rPr lang="en-US">
                <a:solidFill>
                  <a:schemeClr val="dk1"/>
                </a:solidFill>
                <a:uFill>
                  <a:noFill/>
                </a:uFil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US" u="sng">
                <a:solidFill>
                  <a:schemeClr val="hlink"/>
                </a:solidFill>
                <a:hlinkClick r:id="rId5"/>
              </a:rPr>
              <a:t>https://thetechstack.net/chain-of-responsibility-design-pattern/</a:t>
            </a:r>
            <a:endParaRPr u="sng">
              <a:solidFill>
                <a:schemeClr val="hlink"/>
              </a:solidFill>
            </a:endParaRPr>
          </a:p>
        </p:txBody>
      </p:sp>
      <p:pic>
        <p:nvPicPr>
          <p:cNvPr id="261" name="Google Shape;261;g124442db77d_0_1"/>
          <p:cNvPicPr preferRelativeResize="0"/>
          <p:nvPr/>
        </p:nvPicPr>
        <p:blipFill>
          <a:blip r:embed="rId6">
            <a:alphaModFix/>
          </a:blip>
          <a:stretch>
            <a:fillRect/>
          </a:stretch>
        </p:blipFill>
        <p:spPr>
          <a:xfrm>
            <a:off x="250350" y="678850"/>
            <a:ext cx="6787776" cy="5908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cxnSp>
        <p:nvCxnSpPr>
          <p:cNvPr id="266" name="Google Shape;266;p33"/>
          <p:cNvCxnSpPr/>
          <p:nvPr/>
        </p:nvCxnSpPr>
        <p:spPr>
          <a:xfrm rot="10800000" flipH="1">
            <a:off x="5448168" y="2887307"/>
            <a:ext cx="4581449" cy="1"/>
          </a:xfrm>
          <a:prstGeom prst="straightConnector1">
            <a:avLst/>
          </a:prstGeom>
          <a:noFill/>
          <a:ln w="38100" cap="flat" cmpd="sng">
            <a:solidFill>
              <a:srgbClr val="C55A11"/>
            </a:solidFill>
            <a:prstDash val="solid"/>
            <a:miter lim="800000"/>
            <a:headEnd type="none" w="sm" len="sm"/>
            <a:tailEnd type="none" w="sm" len="sm"/>
          </a:ln>
        </p:spPr>
      </p:cxnSp>
      <p:sp>
        <p:nvSpPr>
          <p:cNvPr id="267" name="Google Shape;267;p33"/>
          <p:cNvSpPr/>
          <p:nvPr/>
        </p:nvSpPr>
        <p:spPr>
          <a:xfrm>
            <a:off x="5460537" y="4049738"/>
            <a:ext cx="749721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rubydinakar@pes.edu</a:t>
            </a:r>
            <a:endParaRPr sz="2400" b="1" i="0" u="none" strike="noStrike" cap="none">
              <a:solidFill>
                <a:schemeClr val="dk1"/>
              </a:solidFill>
              <a:latin typeface="Calibri"/>
              <a:ea typeface="Calibri"/>
              <a:cs typeface="Calibri"/>
              <a:sym typeface="Calibri"/>
            </a:endParaRPr>
          </a:p>
        </p:txBody>
      </p:sp>
      <p:grpSp>
        <p:nvGrpSpPr>
          <p:cNvPr id="268" name="Google Shape;268;p33"/>
          <p:cNvGrpSpPr/>
          <p:nvPr/>
        </p:nvGrpSpPr>
        <p:grpSpPr>
          <a:xfrm>
            <a:off x="313844" y="349466"/>
            <a:ext cx="11518407" cy="6218388"/>
            <a:chOff x="313844" y="349466"/>
            <a:chExt cx="11518407" cy="6218388"/>
          </a:xfrm>
        </p:grpSpPr>
        <p:sp>
          <p:nvSpPr>
            <p:cNvPr id="269" name="Google Shape;269;p33"/>
            <p:cNvSpPr/>
            <p:nvPr/>
          </p:nvSpPr>
          <p:spPr>
            <a:xfrm>
              <a:off x="11786532" y="360726"/>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p33"/>
            <p:cNvSpPr/>
            <p:nvPr/>
          </p:nvSpPr>
          <p:spPr>
            <a:xfrm rot="5400000">
              <a:off x="11275944" y="-161122"/>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p33"/>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p33"/>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73" name="Google Shape;273;p33" descr="A close up of a logo&#10;&#10;Description automatically generated"/>
          <p:cNvPicPr preferRelativeResize="0"/>
          <p:nvPr/>
        </p:nvPicPr>
        <p:blipFill rotWithShape="1">
          <a:blip r:embed="rId3">
            <a:alphaModFix/>
          </a:blip>
          <a:srcRect/>
          <a:stretch/>
        </p:blipFill>
        <p:spPr>
          <a:xfrm>
            <a:off x="2411974" y="1606241"/>
            <a:ext cx="2369218" cy="3550188"/>
          </a:xfrm>
          <a:prstGeom prst="rect">
            <a:avLst/>
          </a:prstGeom>
          <a:noFill/>
          <a:ln>
            <a:noFill/>
          </a:ln>
        </p:spPr>
      </p:pic>
      <p:sp>
        <p:nvSpPr>
          <p:cNvPr id="274" name="Google Shape;274;p33"/>
          <p:cNvSpPr/>
          <p:nvPr/>
        </p:nvSpPr>
        <p:spPr>
          <a:xfrm>
            <a:off x="5448168" y="2049518"/>
            <a:ext cx="4603806" cy="6652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5A11"/>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sp>
        <p:nvSpPr>
          <p:cNvPr id="275" name="Google Shape;275;p33"/>
          <p:cNvSpPr/>
          <p:nvPr/>
        </p:nvSpPr>
        <p:spPr>
          <a:xfrm>
            <a:off x="5448168" y="3064182"/>
            <a:ext cx="63383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J.Ruby Dinakar</a:t>
            </a:r>
            <a:endParaRPr sz="2400" b="1" i="0" u="none" strike="noStrike" cap="none">
              <a:solidFill>
                <a:schemeClr val="dk1"/>
              </a:solidFill>
              <a:latin typeface="Calibri"/>
              <a:ea typeface="Calibri"/>
              <a:cs typeface="Calibri"/>
              <a:sym typeface="Calibri"/>
            </a:endParaRPr>
          </a:p>
        </p:txBody>
      </p:sp>
      <p:sp>
        <p:nvSpPr>
          <p:cNvPr id="276" name="Google Shape;276;p33"/>
          <p:cNvSpPr/>
          <p:nvPr/>
        </p:nvSpPr>
        <p:spPr>
          <a:xfrm>
            <a:off x="5448168" y="3525847"/>
            <a:ext cx="647937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Department of Computer Science and Engineering</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2002</TotalTime>
  <Words>1711</Words>
  <Application>Microsoft Office PowerPoint</Application>
  <PresentationFormat>Widescreen</PresentationFormat>
  <Paragraphs>214</Paragraphs>
  <Slides>33</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Consolas</vt:lpstr>
      <vt:lpstr>Noto Sans Symbols</vt:lpstr>
      <vt:lpstr>Roboto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Applicability</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Venkataram</dc:creator>
  <cp:lastModifiedBy>USER</cp:lastModifiedBy>
  <cp:revision>11</cp:revision>
  <dcterms:created xsi:type="dcterms:W3CDTF">2020-06-03T14:19:11Z</dcterms:created>
  <dcterms:modified xsi:type="dcterms:W3CDTF">2025-04-03T11:39:41Z</dcterms:modified>
</cp:coreProperties>
</file>